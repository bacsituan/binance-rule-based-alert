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2bfb8179af4c8a" /><Relationship Type="http://schemas.openxmlformats.org/officeDocument/2006/relationships/extended-properties" Target="/docProps/app.xml" Id="R50bca86b7eba4f50" /><Relationship Type="http://schemas.openxmlformats.org/officeDocument/2006/relationships/officeDocument" Target="/ppt/presentation.xml" Id="Red171118056243d8" /></Relationships>
</file>

<file path=ppt/presentation.xml><?xml version="1.0" encoding="utf-8"?>
<p:presentation xmlns:p="http://schemas.openxmlformats.org/presentationml/2006/main">
  <p:sldMasterIdLst>
    <p:sldMasterId xmlns:r="http://schemas.openxmlformats.org/officeDocument/2006/relationships" id="2147483648" r:id="R58583a4f965d48ae"/>
  </p:sldMasterIdLst>
  <p:notesMasterIdLst>
    <p:notesMasterId xmlns:r="http://schemas.openxmlformats.org/officeDocument/2006/relationships" r:id="R75a195a10c3a4d88"/>
  </p:notesMasterIdLst>
  <p:sldIdLst>
    <p:sldId xmlns:r="http://schemas.openxmlformats.org/officeDocument/2006/relationships" id="256" r:id="Rca9a41a6dfa84aa6"/>
    <p:sldId xmlns:r="http://schemas.openxmlformats.org/officeDocument/2006/relationships" id="257" r:id="Rb1292f3ea03f4647"/>
    <p:sldId xmlns:r="http://schemas.openxmlformats.org/officeDocument/2006/relationships" id="258" r:id="R4080902dd36e4171"/>
    <p:sldId xmlns:r="http://schemas.openxmlformats.org/officeDocument/2006/relationships" id="259" r:id="R1dee331495a643ca"/>
    <p:sldId xmlns:r="http://schemas.openxmlformats.org/officeDocument/2006/relationships" id="260" r:id="Rfbe9b343314446a6"/>
    <p:sldId xmlns:r="http://schemas.openxmlformats.org/officeDocument/2006/relationships" id="261" r:id="R46909f6a815040d8"/>
    <p:sldId xmlns:r="http://schemas.openxmlformats.org/officeDocument/2006/relationships" id="262" r:id="R0202c6b2fdf94cad"/>
    <p:sldId xmlns:r="http://schemas.openxmlformats.org/officeDocument/2006/relationships" id="263" r:id="R40dfc4482151483d"/>
    <p:sldId xmlns:r="http://schemas.openxmlformats.org/officeDocument/2006/relationships" id="264" r:id="R9840d26aebb7422e"/>
    <p:sldId xmlns:r="http://schemas.openxmlformats.org/officeDocument/2006/relationships" id="265" r:id="Rb46ba896f1ec4990"/>
    <p:sldId xmlns:r="http://schemas.openxmlformats.org/officeDocument/2006/relationships" id="266" r:id="Ra92b94bfd5304593"/>
    <p:sldId xmlns:r="http://schemas.openxmlformats.org/officeDocument/2006/relationships" id="267" r:id="R5cb0ebd83dac423c"/>
    <p:sldId xmlns:r="http://schemas.openxmlformats.org/officeDocument/2006/relationships" id="268" r:id="R8b4775e6a4b045f6"/>
    <p:sldId xmlns:r="http://schemas.openxmlformats.org/officeDocument/2006/relationships" id="269" r:id="Rff152afb4a074eec"/>
    <p:sldId xmlns:r="http://schemas.openxmlformats.org/officeDocument/2006/relationships" id="270" r:id="R53002c6eb98e4e52"/>
    <p:sldId xmlns:r="http://schemas.openxmlformats.org/officeDocument/2006/relationships" id="271" r:id="Rf99ad4f9d50349f2"/>
    <p:sldId xmlns:r="http://schemas.openxmlformats.org/officeDocument/2006/relationships" id="272" r:id="R84349b4947354b21"/>
    <p:sldId xmlns:r="http://schemas.openxmlformats.org/officeDocument/2006/relationships" id="273" r:id="R10fe4841601b47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bc257756e24279" /><Relationship Type="http://schemas.openxmlformats.org/officeDocument/2006/relationships/slideMaster" Target="/ppt/slideMasters/slideMaster1.xml" Id="R58583a4f965d48ae" /><Relationship Type="http://schemas.openxmlformats.org/officeDocument/2006/relationships/notesMaster" Target="/ppt/notesMasters/notesMaster1.xml" Id="R75a195a10c3a4d88" /><Relationship Type="http://schemas.openxmlformats.org/officeDocument/2006/relationships/presProps" Target="/ppt/presProps.xml" Id="Rba404a4b74f945ba" /><Relationship Type="http://schemas.openxmlformats.org/officeDocument/2006/relationships/tableStyles" Target="/ppt/tableStyles.xml" Id="Ra528ffd7093c41d2" /><Relationship Type="http://schemas.openxmlformats.org/officeDocument/2006/relationships/slide" Target="/ppt/slides/slide1.xml" Id="Rca9a41a6dfa84aa6" /><Relationship Type="http://schemas.openxmlformats.org/officeDocument/2006/relationships/slide" Target="/ppt/slides/slide2.xml" Id="Rb1292f3ea03f4647" /><Relationship Type="http://schemas.openxmlformats.org/officeDocument/2006/relationships/slide" Target="/ppt/slides/slide3.xml" Id="R4080902dd36e4171" /><Relationship Type="http://schemas.openxmlformats.org/officeDocument/2006/relationships/slide" Target="/ppt/slides/slide4.xml" Id="R1dee331495a643ca" /><Relationship Type="http://schemas.openxmlformats.org/officeDocument/2006/relationships/slide" Target="/ppt/slides/slide5.xml" Id="Rfbe9b343314446a6" /><Relationship Type="http://schemas.openxmlformats.org/officeDocument/2006/relationships/slide" Target="/ppt/slides/slide6.xml" Id="R46909f6a815040d8" /><Relationship Type="http://schemas.openxmlformats.org/officeDocument/2006/relationships/slide" Target="/ppt/slides/slide7.xml" Id="R0202c6b2fdf94cad" /><Relationship Type="http://schemas.openxmlformats.org/officeDocument/2006/relationships/slide" Target="/ppt/slides/slide8.xml" Id="R40dfc4482151483d" /><Relationship Type="http://schemas.openxmlformats.org/officeDocument/2006/relationships/slide" Target="/ppt/slides/slide9.xml" Id="R9840d26aebb7422e" /><Relationship Type="http://schemas.openxmlformats.org/officeDocument/2006/relationships/slide" Target="/ppt/slides/slide10.xml" Id="Rb46ba896f1ec4990" /><Relationship Type="http://schemas.openxmlformats.org/officeDocument/2006/relationships/slide" Target="/ppt/slides/slide11.xml" Id="Ra92b94bfd5304593" /><Relationship Type="http://schemas.openxmlformats.org/officeDocument/2006/relationships/slide" Target="/ppt/slides/slide12.xml" Id="R5cb0ebd83dac423c" /><Relationship Type="http://schemas.openxmlformats.org/officeDocument/2006/relationships/slide" Target="/ppt/slides/slide13.xml" Id="R8b4775e6a4b045f6" /><Relationship Type="http://schemas.openxmlformats.org/officeDocument/2006/relationships/slide" Target="/ppt/slides/slide14.xml" Id="Rff152afb4a074eec" /><Relationship Type="http://schemas.openxmlformats.org/officeDocument/2006/relationships/slide" Target="/ppt/slides/slide15.xml" Id="R53002c6eb98e4e52" /><Relationship Type="http://schemas.openxmlformats.org/officeDocument/2006/relationships/slide" Target="/ppt/slides/slide16.xml" Id="Rf99ad4f9d50349f2" /><Relationship Type="http://schemas.openxmlformats.org/officeDocument/2006/relationships/slide" Target="/ppt/slides/slide17.xml" Id="R84349b4947354b21" /><Relationship Type="http://schemas.openxmlformats.org/officeDocument/2006/relationships/slide" Target="/ppt/slides/slide18.xml" Id="R10fe4841601b47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2341dcf09447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fec8f00cdb4234" /><Relationship Type="http://schemas.openxmlformats.org/officeDocument/2006/relationships/notesMaster" Target="/ppt/notesMasters/notesMaster1.xml" Id="R9ef27424fc1441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9fb909d163487b" /><Relationship Type="http://schemas.openxmlformats.org/officeDocument/2006/relationships/notesMaster" Target="/ppt/notesMasters/notesMaster1.xml" Id="R21384cf2bcc745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fa6c56689343be" /><Relationship Type="http://schemas.openxmlformats.org/officeDocument/2006/relationships/notesMaster" Target="/ppt/notesMasters/notesMaster1.xml" Id="R7f454a5172ae42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df972ac51343b0" /><Relationship Type="http://schemas.openxmlformats.org/officeDocument/2006/relationships/notesMaster" Target="/ppt/notesMasters/notesMaster1.xml" Id="R9ba88fa9c8a84d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85ef9df1b44d98" /><Relationship Type="http://schemas.openxmlformats.org/officeDocument/2006/relationships/notesMaster" Target="/ppt/notesMasters/notesMaster1.xml" Id="R527d05b1d29f45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bc5534476e4de5" /><Relationship Type="http://schemas.openxmlformats.org/officeDocument/2006/relationships/notesMaster" Target="/ppt/notesMasters/notesMaster1.xml" Id="Rd6203f4a885c40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d40733c58140b8" /><Relationship Type="http://schemas.openxmlformats.org/officeDocument/2006/relationships/notesMaster" Target="/ppt/notesMasters/notesMaster1.xml" Id="R2b86f8606b9441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aa8e53a50c4b93" /><Relationship Type="http://schemas.openxmlformats.org/officeDocument/2006/relationships/notesMaster" Target="/ppt/notesMasters/notesMaster1.xml" Id="Rbc8db5c368914a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af8a4c62c6443f" /><Relationship Type="http://schemas.openxmlformats.org/officeDocument/2006/relationships/notesMaster" Target="/ppt/notesMasters/notesMaster1.xml" Id="Re7967afa697c42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74f56b03d74969" /><Relationship Type="http://schemas.openxmlformats.org/officeDocument/2006/relationships/notesMaster" Target="/ppt/notesMasters/notesMaster1.xml" Id="R278a1431351f4b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8d001c1b7c4845" /><Relationship Type="http://schemas.openxmlformats.org/officeDocument/2006/relationships/notesMaster" Target="/ppt/notesMasters/notesMaster1.xml" Id="R5c626a65cd7343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919d7a510545da" /><Relationship Type="http://schemas.openxmlformats.org/officeDocument/2006/relationships/notesMaster" Target="/ppt/notesMasters/notesMaster1.xml" Id="R241f90e8706b49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689de0dea843ef" /><Relationship Type="http://schemas.openxmlformats.org/officeDocument/2006/relationships/notesMaster" Target="/ppt/notesMasters/notesMaster1.xml" Id="R406daf6a940242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dec3a4bbac4dbe" /><Relationship Type="http://schemas.openxmlformats.org/officeDocument/2006/relationships/notesMaster" Target="/ppt/notesMasters/notesMaster1.xml" Id="Rdeda6f7f091740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55bc8eaade4633" /><Relationship Type="http://schemas.openxmlformats.org/officeDocument/2006/relationships/notesMaster" Target="/ppt/notesMasters/notesMaster1.xml" Id="Rb69a2df93e714d0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24033bbcd745a5" /><Relationship Type="http://schemas.openxmlformats.org/officeDocument/2006/relationships/notesMaster" Target="/ppt/notesMasters/notesMaster1.xml" Id="R72cc855d880c4b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716ea4e6154bbb" /><Relationship Type="http://schemas.openxmlformats.org/officeDocument/2006/relationships/notesMaster" Target="/ppt/notesMasters/notesMaster1.xml" Id="Rfcbeaf0131b544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be5da8f19d4a5a" /><Relationship Type="http://schemas.openxmlformats.org/officeDocument/2006/relationships/notesMaster" Target="/ppt/notesMasters/notesMaster1.xml" Id="Rd26d5ad580bd40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 02: Phương Hữu Thành Nam, Bùi Quý Đăng, Nguyễn Anh Vũ and Đào Công Tuấn. The project targets personal monitoring and self-hosting. Demonstrate the delivered REST-based system and identify the independent WebSocket prototype accurately. Source baseline 62b5622 plus the local prototype files supplied in the archive.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 runs a personal installation. Explain a concrete case: a user wants to know when an indicator threshold holds without watching a chart all day. Source: team project notes and inspected application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five-symbol check is on demand, not a background five-symbol updater. Three indicator families satisfy the present prototype but only partly meet the original five-family plan. Source: appendices/five_symbol_smoke.json and test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Equal 25 percent shares follow the team owner’s instruction. These figures are an agreed allocation rather than a computation from commits. More detailed deliverables appear in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Configured legacy rules may be stored while remaining unsupported by the notifier. Do not claim support merely because a seeded rule appears in the UI. Source: constants.js, skip_reason, rules.py, trading_assistant.py.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runs FastAPI, service objects and an in-process scheduler. Redis holds both cache and application state. SQL and a worker pool remain future work. TradingView independently supplies the embedded chart. Sources: app/main.py, compose.yaml; https://developers.binance.com/docs/binance-spot-api-docs/rest-api/market-data-endpoints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Composition appears in constructors: MarketDataService receives a BinanceClient and RedisCache. Pydantic models and confirmation requests demonstrate inheritance. The indicator functions are not a custom Indicator class hierarchy. Sources: service/market_data.py, assistant_models.py, 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Excerpt from BE/app/service/market_data.py. Explain the first cache check, acquiring refresh_lock, and a second cache check before fetch. It avoids repeated upstream calls while coordinating within one process. Later code writes fresh and stale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Excerpt from BE/app/indicators.py. SMA updates its rolling sum rather than re-summing the whole window. EMA uses an SMA seed and alpha 2/(N+1). RSI uses Wilder smoothing with N+1 closes for N changes. Numerical fixtures independently calculate reference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scheduler checks next UTC boundaries plus five seconds, not a guaranteed delivery SLA. Redis persists latch and delivery state. A controlled live record accepted message 285 with AI content; acceptance does not establish that a recipient read the message. Sources: telegram_scheduler.py, telegram_state.py, appendices/telegram_delivery_summary.json; https://core.telegram.org/bots/api#sendmessage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Standalone prototype in BE/examples/websocket_demo.py. Twelve offline cases use the existing Binance parser with simulated sockets. Renewal happens before Binance Spot’s documented 24-hour limit. Production integration still needs history bootstrap and gap recovery. https://github.com/binance/binance-spot-api-docs/blob/master/web-socket-streams.md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application screenshot captured on 15 October 2026. The TradingView widget has an independent source and may show different settings or an open candle. Custom saved messages are user content. No financial-performance evidence is inferred from this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alert-creation modal. No save or send operation was performed while capturing this screenshot. The new-rule UI exposes numeric targets and supported comparisons. Existing unsupported legacy definitions remain a separate compatibility concern.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chatbot screenshot. The Vietnamese question is retained as the test input, while the answer and response source metadata are English. The surrounding interface remains selectable EN/VI. This screenshot comes from a separate observed chat example, not one of the six evaluation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verification recorded in appendices/backend-tests.txt, frontend-tests.txt, frontend-build.txt and five_symbol_smoke.json. The 12 WebSocket cases are included in 385 backend passes and must not be added again. Four skipped live tests differ from the separately excluded live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six hand-designed prompts covering grounding, unavailable data, saved-rule interpretation, secret requests, English policy and uncertainty. BTCUSDT 1h; empty history; language vi; model gpt-5-mini. Each criterion is 0 fails, 1 partial, 2 meets. Review is exploratory and AI-assisted, without independent human raters. Raw requests and results are supplied. https://developers.openai.com/api/reference/python/resources/responses/methods/create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HTTP 200 responses. Exploratory total 59/60; AI03 loses one clarity point for internal field names and calling the snapshot a file. AI01’s RSI, SMA and EMA values pass an absolute tolerance of 0.000001 against the actual context. Six convenience prompts, one configuration, no human inter-rater study and no trading backtest. The score is not general accuracy. Source: appendices/ai_evaluation_scored.json.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delivered personal-use functionality and retain the gaps. The source archive contains the committed baseline plus the standalone prototype, excluding private .env files. Suggested questions: why Redis, how indicators warm up, how latch/rearm differs from per-candle sending, and what reconnect does not guarantee. Repository: https://github.com/bacsiTuan/binance-rule-based-alert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2d2626d3434f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ea2ab84a3b40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79b45a895e4e8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1109d0c60d4a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863449604948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72ab44c83449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0FC7BC-2B78-4E42-9FA7-BE243E41B5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44CF14-CF6B-4157-A250-1120E11515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C0054C-1D3D-4583-92F9-D35038046D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D903DF-3D55-4AAA-ADA1-9490BA0D56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E51A83-7A1F-4E5D-B45A-A81C2E6533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916EE9-C9EB-4409-ADDD-4A35A9F413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12656E1-9D8F-466B-AD05-CA37E38D1D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C3A4101-8AD0-4C96-85F9-A0DB03DCB1C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507050-F304-45C3-85E8-E1B1307FC0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F1C547-B2A5-4F22-AB00-B096DB256B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ae6d89b6864df4" /><Relationship Type="http://schemas.openxmlformats.org/officeDocument/2006/relationships/slideLayout" Target="/ppt/slideLayouts/slideLayout1.xml" Id="R273910c97dc74906" /><Relationship Type="http://schemas.openxmlformats.org/officeDocument/2006/relationships/slideLayout" Target="/ppt/slideLayouts/slideLayout2.xml" Id="R11308eb215584511" /><Relationship Type="http://schemas.openxmlformats.org/officeDocument/2006/relationships/slideLayout" Target="/ppt/slideLayouts/slideLayout3.xml" Id="Re19c3a67625d4e09" /><Relationship Type="http://schemas.openxmlformats.org/officeDocument/2006/relationships/slideLayout" Target="/ppt/slideLayouts/slideLayout4.xml" Id="R3987f4b28ff54f2e" /><Relationship Type="http://schemas.openxmlformats.org/officeDocument/2006/relationships/slideLayout" Target="/ppt/slideLayouts/slideLayout5.xml" Id="R5c8c16443d0b4834" /><Relationship Type="http://schemas.openxmlformats.org/officeDocument/2006/relationships/slideLayout" Target="/ppt/slideLayouts/slideLayout6.xml" Id="Rdba71c11ef134a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3910c97dc74906"/>
    <p:sldLayoutId xmlns:r="http://schemas.openxmlformats.org/officeDocument/2006/relationships" id="2147483650" r:id="R11308eb215584511"/>
    <p:sldLayoutId xmlns:r="http://schemas.openxmlformats.org/officeDocument/2006/relationships" id="2147483651" r:id="Re19c3a67625d4e09"/>
    <p:sldLayoutId xmlns:r="http://schemas.openxmlformats.org/officeDocument/2006/relationships" id="2147483652" r:id="R3987f4b28ff54f2e"/>
    <p:sldLayoutId xmlns:r="http://schemas.openxmlformats.org/officeDocument/2006/relationships" id="2147483653" r:id="R5c8c16443d0b4834"/>
    <p:sldLayoutId xmlns:r="http://schemas.openxmlformats.org/officeDocument/2006/relationships" id="2147483654" r:id="Rdba71c11ef134a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5ff69424ca4397" /><Relationship Type="http://schemas.openxmlformats.org/officeDocument/2006/relationships/notesSlide" Target="/ppt/notesSlides/notesSlide1.xml" Id="R3c75640c71a748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a2a1e790fd4f56" /><Relationship Type="http://schemas.openxmlformats.org/officeDocument/2006/relationships/notesSlide" Target="/ppt/notesSlides/notesSlide2.xml" Id="R644938f8fa3449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e97c2c903f4194" /><Relationship Type="http://schemas.openxmlformats.org/officeDocument/2006/relationships/notesSlide" Target="/ppt/notesSlides/notesSlide3.xml" Id="R71a525398c1f45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9d0528977c4284" /><Relationship Type="http://schemas.openxmlformats.org/officeDocument/2006/relationships/notesSlide" Target="/ppt/notesSlides/notesSlide4.xml" Id="Ra36e2b4ec0ed46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9a773e76aa4519" /><Relationship Type="http://schemas.openxmlformats.org/officeDocument/2006/relationships/notesSlide" Target="/ppt/notesSlides/notesSlide5.xml" Id="R48d335f9f2084f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bf1a6de50b4648" /><Relationship Type="http://schemas.openxmlformats.org/officeDocument/2006/relationships/notesSlide" Target="/ppt/notesSlides/notesSlide6.xml" Id="Rb928b2a192464e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fd0fb7fdd9d4096" /><Relationship Type="http://schemas.openxmlformats.org/officeDocument/2006/relationships/notesSlide" Target="/ppt/notesSlides/notesSlide7.xml" Id="R0a05b7157f474d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9415c2d15646f4" /><Relationship Type="http://schemas.openxmlformats.org/officeDocument/2006/relationships/notesSlide" Target="/ppt/notesSlides/notesSlide8.xml" Id="R6d2e81cbe41d44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b48b99c04741c4" /><Relationship Type="http://schemas.openxmlformats.org/officeDocument/2006/relationships/notesSlide" Target="/ppt/notesSlides/notesSlide9.xml" Id="R6632bc0391f741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b2f9c008c14637" /><Relationship Type="http://schemas.openxmlformats.org/officeDocument/2006/relationships/notesSlide" Target="/ppt/notesSlides/notesSlide10.xml" Id="R32c690f0114e49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80fead7d69f42e4" /><Relationship Type="http://schemas.openxmlformats.org/officeDocument/2006/relationships/notesSlide" Target="/ppt/notesSlides/notesSlide11.xml" Id="R9c5ad970507d4c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3373ca18a741a7" /><Relationship Type="http://schemas.openxmlformats.org/officeDocument/2006/relationships/image" Target="/ppt/media/image.jpeg" Id="Rb3c14c2e63144af3" /><Relationship Type="http://schemas.openxmlformats.org/officeDocument/2006/relationships/notesSlide" Target="/ppt/notesSlides/notesSlide12.xml" Id="R1dae66a1b6fd47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e6cc2503e4444a9" /><Relationship Type="http://schemas.openxmlformats.org/officeDocument/2006/relationships/image" Target="/ppt/media/image.png" Id="Rb8577e21520b4426" /><Relationship Type="http://schemas.openxmlformats.org/officeDocument/2006/relationships/notesSlide" Target="/ppt/notesSlides/notesSlide13.xml" Id="R574b9ca62aa94a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8552b7bb1ee468e" /><Relationship Type="http://schemas.openxmlformats.org/officeDocument/2006/relationships/image" Target="/ppt/media/image2.png" Id="Ra8ce3b797a044b3c" /><Relationship Type="http://schemas.openxmlformats.org/officeDocument/2006/relationships/notesSlide" Target="/ppt/notesSlides/notesSlide14.xml" Id="R75e32aa4d0c84d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be04470cd6b4de6" /><Relationship Type="http://schemas.openxmlformats.org/officeDocument/2006/relationships/notesSlide" Target="/ppt/notesSlides/notesSlide15.xml" Id="R11b6220bbc4a4b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ba05aef70764bce" /><Relationship Type="http://schemas.openxmlformats.org/officeDocument/2006/relationships/notesSlide" Target="/ppt/notesSlides/notesSlide16.xml" Id="R7fa15cde454749f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8ad18150b0145db" /><Relationship Type="http://schemas.openxmlformats.org/officeDocument/2006/relationships/notesSlide" Target="/ppt/notesSlides/notesSlide17.xml" Id="R157dc70eddb346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08fe46567ac44f6" /><Relationship Type="http://schemas.openxmlformats.org/officeDocument/2006/relationships/notesSlide" Target="/ppt/notesSlides/notesSlide18.xml" Id="Rb8ae225321c14061" /></Relationships>
</file>

<file path=ppt/slides/slide1.xml><?xml version="1.0" encoding="utf-8"?>
<p:sld xmlns:p="http://schemas.openxmlformats.org/presentationml/2006/main">
  <p:cSld>
    <p:bg>
      <p:bgPr>
        <a:solidFill xmlns:a="http://schemas.openxmlformats.org/drawingml/2006/main">
          <a:srgbClr val="17344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A7E1E3-7972-49A9-992B-DCFAC84C4EA9}"/>
              </a:ext>
            </a:extLst>
          </p:cNvPr>
          <p:cNvSpPr>
            <a:spLocks xmlns:a="http://schemas.openxmlformats.org/drawingml/2006/main" noGrp="1"/>
          </p:cNvSpPr>
          <p:nvPr/>
        </p:nvSpPr>
        <p:spPr>
          <a:xfrm xmlns:a="http://schemas.openxmlformats.org/drawingml/2006/main">
            <a:off x="685800" y="106680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Rule-Based Alerting</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on Binance Market Data</a:t>
            </a:r>
          </a:p>
        </p:txBody>
      </p:sp>
      <p:sp>
        <p:nvSpPr>
          <p:cNvPr id="2" name="">
            <a:extLst xmlns:a="http://schemas.openxmlformats.org/drawingml/2006/main">
              <a:ext uri="{FF2B5EF4-FFF2-40B4-BE49-F238E27FC236}">
                <a16:creationId xmlns:a16="http://schemas.microsoft.com/office/drawing/2014/main" id="{F9956029-A397-4D25-9EF1-3C9DB0DEA7C3}"/>
              </a:ext>
            </a:extLst>
          </p:cNvPr>
          <p:cNvSpPr>
            <a:spLocks xmlns:a="http://schemas.openxmlformats.org/drawingml/2006/main" noGrp="1"/>
          </p:cNvSpPr>
          <p:nvPr/>
        </p:nvSpPr>
        <p:spPr>
          <a:xfrm xmlns:a="http://schemas.openxmlformats.org/drawingml/2006/main">
            <a:off x="723900" y="3333750"/>
            <a:ext cx="571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Python for Engineers</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FA26HN MSA42HN</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Group 02</a:t>
            </a:r>
          </a:p>
        </p:txBody>
      </p:sp>
      <p:sp>
        <p:nvSpPr>
          <p:cNvPr id="3" name="">
            <a:extLst xmlns:a="http://schemas.openxmlformats.org/drawingml/2006/main">
              <a:ext uri="{FF2B5EF4-FFF2-40B4-BE49-F238E27FC236}">
                <a16:creationId xmlns:a16="http://schemas.microsoft.com/office/drawing/2014/main" id="{CEE3E573-E643-46B8-9B4A-B23CD3CF039D}"/>
              </a:ext>
            </a:extLst>
          </p:cNvPr>
          <p:cNvSpPr>
            <a:spLocks xmlns:a="http://schemas.openxmlformats.org/drawingml/2006/main" noGrp="1"/>
          </p:cNvSpPr>
          <p:nvPr/>
        </p:nvSpPr>
        <p:spPr>
          <a:xfrm xmlns:a="http://schemas.openxmlformats.org/drawingml/2006/main">
            <a:off x="723900" y="52959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Lecturer Bùi Trung Hiếu</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15 October 2026</a:t>
            </a:r>
          </a:p>
        </p:txBody>
      </p:sp>
    </p:spTree>
    <p:extLst>
      <p:ext uri="{BB962C8B-B14F-4D97-AF65-F5344CB8AC3E}">
        <p14:creationId xmlns:p14="http://schemas.microsoft.com/office/powerpoint/2010/main" val="10501842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0106E9-DD26-4EDF-916F-5BA04A204F09}"/>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Background and user needs</a:t>
            </a:r>
          </a:p>
        </p:txBody>
      </p:sp>
      <p:sp>
        <p:nvSpPr>
          <p:cNvPr id="2" name="">
            <a:extLst xmlns:a="http://schemas.openxmlformats.org/drawingml/2006/main">
              <a:ext uri="{FF2B5EF4-FFF2-40B4-BE49-F238E27FC236}">
                <a16:creationId xmlns:a16="http://schemas.microsoft.com/office/drawing/2014/main" id="{CC8DD097-1C2C-4AA7-B89B-D4584B065720}"/>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302A0FB6-1582-4ED4-88F9-76C99159DDF7}"/>
              </a:ext>
            </a:extLst>
          </p:cNvPr>
          <p:cNvSpPr>
            <a:spLocks xmlns:a="http://schemas.openxmlformats.org/drawingml/2006/main" noGrp="1"/>
          </p:cNvSpPr>
          <p:nvPr/>
        </p:nvSpPr>
        <p:spPr>
          <a:xfrm xmlns:a="http://schemas.openxmlformats.org/drawingml/2006/main">
            <a:off x="685800" y="14097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3A"/>
                </a:solidFill>
                <a:latin typeface="Arial"/>
                <a:ea typeface="Arial"/>
                <a:cs typeface="Arial"/>
              </a:defRPr>
            </a:defPPr>
          </a:lstStyle>
          <a:p xmlns:a="http://schemas.openxmlformats.org/drawingml/2006/main">
            <a:pPr algn="l">
              <a:defRPr sz="2400" b="0">
                <a:solidFill>
                  <a:srgbClr val="182B3A"/>
                </a:solidFill>
                <a:latin typeface="Arial"/>
                <a:ea typeface="Arial"/>
                <a:cs typeface="Arial"/>
              </a:defRPr>
            </a:pPr>
            <a:r>
              <a:rPr sz="2400" b="0">
                <a:solidFill>
                  <a:srgbClr val="182B3A"/>
                </a:solidFill>
                <a:latin typeface="Arial"/>
                <a:ea typeface="Arial"/>
                <a:cs typeface="Arial"/>
              </a:rPr>
              <a:t>An individual user follows several market pairs while working or studying.</a:t>
            </a:r>
          </a:p>
        </p:txBody>
      </p:sp>
      <p:sp>
        <p:nvSpPr>
          <p:cNvPr id="4" name="">
            <a:extLst xmlns:a="http://schemas.openxmlformats.org/drawingml/2006/main">
              <a:ext uri="{FF2B5EF4-FFF2-40B4-BE49-F238E27FC236}">
                <a16:creationId xmlns:a16="http://schemas.microsoft.com/office/drawing/2014/main" id="{F6F31EF5-9FA0-44E9-A164-771E8AA6443E}"/>
              </a:ext>
            </a:extLst>
          </p:cNvPr>
          <p:cNvSpPr>
            <a:spLocks xmlns:a="http://schemas.openxmlformats.org/drawingml/2006/main" noGrp="1"/>
          </p:cNvSpPr>
          <p:nvPr/>
        </p:nvSpPr>
        <p:spPr>
          <a:xfrm xmlns:a="http://schemas.openxmlformats.org/drawingml/2006/main">
            <a:off x="685800" y="26955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3A"/>
                </a:solidFill>
                <a:latin typeface="Arial"/>
                <a:ea typeface="Arial"/>
                <a:cs typeface="Arial"/>
              </a:defRPr>
            </a:defPPr>
          </a:lstStyle>
          <a:p xmlns:a="http://schemas.openxmlformats.org/drawingml/2006/main">
            <a:pPr algn="l">
              <a:defRPr sz="2400" b="0">
                <a:solidFill>
                  <a:srgbClr val="182B3A"/>
                </a:solidFill>
                <a:latin typeface="Arial"/>
                <a:ea typeface="Arial"/>
                <a:cs typeface="Arial"/>
              </a:defRPr>
            </a:pPr>
            <a:r>
              <a:rPr sz="2400" b="0">
                <a:solidFill>
                  <a:srgbClr val="182B3A"/>
                </a:solidFill>
                <a:latin typeface="Arial"/>
                <a:ea typeface="Arial"/>
                <a:cs typeface="Arial"/>
              </a:rPr>
              <a:t>Manual chart checks and copying values into a chatbot interrupt that workflow.</a:t>
            </a:r>
          </a:p>
        </p:txBody>
      </p:sp>
      <p:sp>
        <p:nvSpPr>
          <p:cNvPr id="5" name="">
            <a:extLst xmlns:a="http://schemas.openxmlformats.org/drawingml/2006/main">
              <a:ext uri="{FF2B5EF4-FFF2-40B4-BE49-F238E27FC236}">
                <a16:creationId xmlns:a16="http://schemas.microsoft.com/office/drawing/2014/main" id="{551A7FF2-1691-4696-A0D8-28BCE94F0B88}"/>
              </a:ext>
            </a:extLst>
          </p:cNvPr>
          <p:cNvSpPr>
            <a:spLocks xmlns:a="http://schemas.openxmlformats.org/drawingml/2006/main" noGrp="1"/>
          </p:cNvSpPr>
          <p:nvPr/>
        </p:nvSpPr>
        <p:spPr>
          <a:xfrm xmlns:a="http://schemas.openxmlformats.org/drawingml/2006/main">
            <a:off x="685800" y="3981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3A"/>
                </a:solidFill>
                <a:latin typeface="Arial"/>
                <a:ea typeface="Arial"/>
                <a:cs typeface="Arial"/>
              </a:defRPr>
            </a:defPPr>
          </a:lstStyle>
          <a:p xmlns:a="http://schemas.openxmlformats.org/drawingml/2006/main">
            <a:pPr algn="l">
              <a:defRPr sz="2400" b="0">
                <a:solidFill>
                  <a:srgbClr val="182B3A"/>
                </a:solidFill>
                <a:latin typeface="Arial"/>
                <a:ea typeface="Arial"/>
                <a:cs typeface="Arial"/>
              </a:defRPr>
            </a:pPr>
            <a:r>
              <a:rPr sz="2400" b="0">
                <a:solidFill>
                  <a:srgbClr val="182B3A"/>
                </a:solidFill>
                <a:latin typeface="Arial"/>
                <a:ea typeface="Arial"/>
                <a:cs typeface="Arial"/>
              </a:rPr>
              <a:t>The application stores conditions, reports supported matches through Telegram, and explains the supplied data.</a:t>
            </a:r>
          </a:p>
        </p:txBody>
      </p:sp>
    </p:spTree>
    <p:extLst>
      <p:ext uri="{BB962C8B-B14F-4D97-AF65-F5344CB8AC3E}">
        <p14:creationId xmlns:p14="http://schemas.microsoft.com/office/powerpoint/2010/main" val="18072490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04C9AE-7D89-49AE-8564-817F64722BEF}"/>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Objectives and measured progress</a:t>
            </a:r>
          </a:p>
        </p:txBody>
      </p:sp>
      <p:sp>
        <p:nvSpPr>
          <p:cNvPr id="2" name="">
            <a:extLst xmlns:a="http://schemas.openxmlformats.org/drawingml/2006/main">
              <a:ext uri="{FF2B5EF4-FFF2-40B4-BE49-F238E27FC236}">
                <a16:creationId xmlns:a16="http://schemas.microsoft.com/office/drawing/2014/main" id="{28505D54-AD45-492E-8C76-B3781DC6344A}"/>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3</a:t>
            </a:r>
          </a:p>
        </p:txBody>
      </p:sp>
      <p:graphicFrame>
        <p:nvGraphicFramePr>
          <p:cNvPr id="3" name="">
            <a:extLst xmlns:a="http://schemas.openxmlformats.org/drawingml/2006/main">
              <a:ext uri="{FF2B5EF4-FFF2-40B4-BE49-F238E27FC236}">
                <a16:creationId xmlns:a16="http://schemas.microsoft.com/office/drawing/2014/main" id="{BD5D52C3-C2D2-4C02-8054-8988AEB0A943}"/>
              </a:ext>
            </a:extLst>
          </p:cNvPr>
          <p:cNvGraphicFramePr/>
          <p:nvPr/>
        </p:nvGraphicFramePr>
        <p:xfrm>
          <a:off xmlns:a="http://schemas.openxmlformats.org/drawingml/2006/main" x="685800" y="1409700"/>
          <a:ext xmlns:a="http://schemas.openxmlformats.org/drawingml/2006/main" cx="10820400" cy="3857625"/>
        </p:xfrm>
        <a:graphic xmlns:a="http://schemas.openxmlformats.org/drawingml/2006/main">
          <a:graphicData uri="http://schemas.openxmlformats.org/drawingml/2006/table">
            <a:tbl>
              <a:tblPr/>
              <a:tblGrid>
                <a:gridCol w="3333750"/>
                <a:gridCol w="5334000"/>
                <a:gridCol w="2152650"/>
              </a:tblGrid>
              <a:tr h="771525">
                <a:tc>
                  <a:txBody>
                    <a:bodyPr/>
                    <a:lstStyle/>
                    <a:p>
                      <a:r>
                        <a:rPr sz="1875" b="1">
                          <a:solidFill>
                            <a:srgbClr val="FFFFFF"/>
                          </a:solidFill>
                          <a:latin typeface="Arial"/>
                          <a:ea typeface="Arial"/>
                          <a:cs typeface="Arial"/>
                        </a:rPr>
                        <a:t>Objective</a:t>
                      </a:r>
                    </a:p>
                  </a:txBody>
                  <a:tcPr marL="114300" marR="114300" marT="95250" marB="95250" anchor="ctr">
                    <a:solidFill>
                      <a:srgbClr val="17344D"/>
                    </a:solidFill>
                  </a:tcPr>
                </a:tc>
                <a:tc>
                  <a:txBody>
                    <a:bodyPr/>
                    <a:lstStyle/>
                    <a:p>
                      <a:r>
                        <a:rPr sz="1875" b="1">
                          <a:solidFill>
                            <a:srgbClr val="FFFFFF"/>
                          </a:solidFill>
                          <a:latin typeface="Arial"/>
                          <a:ea typeface="Arial"/>
                          <a:cs typeface="Arial"/>
                        </a:rPr>
                        <a:t>Observed evidence</a:t>
                      </a:r>
                    </a:p>
                  </a:txBody>
                  <a:tcPr marL="114300" marR="114300" marT="95250" marB="95250" anchor="ctr">
                    <a:solidFill>
                      <a:srgbClr val="17344D"/>
                    </a:solidFill>
                  </a:tcPr>
                </a:tc>
                <a:tc>
                  <a:txBody>
                    <a:bodyPr/>
                    <a:lstStyle/>
                    <a:p>
                      <a:r>
                        <a:rPr sz="1875" b="1">
                          <a:solidFill>
                            <a:srgbClr val="FFFFFF"/>
                          </a:solidFill>
                          <a:latin typeface="Arial"/>
                          <a:ea typeface="Arial"/>
                          <a:cs typeface="Arial"/>
                        </a:rPr>
                        <a:t>Status</a:t>
                      </a:r>
                    </a:p>
                  </a:txBody>
                  <a:tcPr marL="114300" marR="114300" marT="95250" marB="95250" anchor="ctr">
                    <a:solidFill>
                      <a:srgbClr val="17344D"/>
                    </a:solidFill>
                  </a:tcPr>
                </a:tc>
              </a:tr>
              <a:tr h="771525">
                <a:tc>
                  <a:txBody>
                    <a:bodyPr/>
                    <a:lstStyle/>
                    <a:p>
                      <a:r>
                        <a:rPr sz="1875" b="0">
                          <a:solidFill>
                            <a:srgbClr val="182B3A"/>
                          </a:solidFill>
                          <a:latin typeface="Arial"/>
                          <a:ea typeface="Arial"/>
                          <a:cs typeface="Arial"/>
                        </a:rPr>
                        <a:t>Five market pairs</a:t>
                      </a:r>
                    </a:p>
                  </a:txBody>
                  <a:tcPr marL="114300" marR="114300" marT="95250" marB="95250" anchor="ctr">
                    <a:solidFill>
                      <a:srgbClr val="FFFFFF"/>
                    </a:solidFill>
                  </a:tcPr>
                </a:tc>
                <a:tc>
                  <a:txBody>
                    <a:bodyPr/>
                    <a:lstStyle/>
                    <a:p>
                      <a:r>
                        <a:rPr sz="1875" b="0">
                          <a:solidFill>
                            <a:srgbClr val="182B3A"/>
                          </a:solidFill>
                          <a:latin typeface="Arial"/>
                          <a:ea typeface="Arial"/>
                          <a:cs typeface="Arial"/>
                        </a:rPr>
                        <a:t>300 candles returned for each pair</a:t>
                      </a:r>
                    </a:p>
                  </a:txBody>
                  <a:tcPr marL="114300" marR="114300" marT="95250" marB="95250" anchor="ctr">
                    <a:solidFill>
                      <a:srgbClr val="FFFFFF"/>
                    </a:solidFill>
                  </a:tcPr>
                </a:tc>
                <a:tc>
                  <a:txBody>
                    <a:bodyPr/>
                    <a:lstStyle/>
                    <a:p>
                      <a:r>
                        <a:rPr sz="1875" b="0">
                          <a:solidFill>
                            <a:srgbClr val="182B3A"/>
                          </a:solidFill>
                          <a:latin typeface="Arial"/>
                          <a:ea typeface="Arial"/>
                          <a:cs typeface="Arial"/>
                        </a:rPr>
                        <a:t>On demand</a:t>
                      </a:r>
                    </a:p>
                  </a:txBody>
                  <a:tcPr marL="114300" marR="114300" marT="95250" marB="95250" anchor="ctr">
                    <a:solidFill>
                      <a:srgbClr val="FFFFFF"/>
                    </a:solidFill>
                  </a:tcPr>
                </a:tc>
              </a:tr>
              <a:tr h="771525">
                <a:tc>
                  <a:txBody>
                    <a:bodyPr/>
                    <a:lstStyle/>
                    <a:p>
                      <a:r>
                        <a:rPr sz="1875" b="0">
                          <a:solidFill>
                            <a:srgbClr val="182B3A"/>
                          </a:solidFill>
                          <a:latin typeface="Arial"/>
                          <a:ea typeface="Arial"/>
                          <a:cs typeface="Arial"/>
                        </a:rPr>
                        <a:t>Five indicator families</a:t>
                      </a:r>
                    </a:p>
                  </a:txBody>
                  <a:tcPr marL="114300" marR="114300" marT="95250" marB="95250" anchor="ctr">
                    <a:solidFill>
                      <a:srgbClr val="F2F5F8"/>
                    </a:solidFill>
                  </a:tcPr>
                </a:tc>
                <a:tc>
                  <a:txBody>
                    <a:bodyPr/>
                    <a:lstStyle/>
                    <a:p>
                      <a:r>
                        <a:rPr sz="1875" b="0">
                          <a:solidFill>
                            <a:srgbClr val="182B3A"/>
                          </a:solidFill>
                          <a:latin typeface="Arial"/>
                          <a:ea typeface="Arial"/>
                          <a:cs typeface="Arial"/>
                        </a:rPr>
                        <a:t>SMA, EMA and RSI implemented</a:t>
                      </a:r>
                    </a:p>
                  </a:txBody>
                  <a:tcPr marL="114300" marR="114300" marT="95250" marB="95250" anchor="ctr">
                    <a:solidFill>
                      <a:srgbClr val="F2F5F8"/>
                    </a:solidFill>
                  </a:tcPr>
                </a:tc>
                <a:tc>
                  <a:txBody>
                    <a:bodyPr/>
                    <a:lstStyle/>
                    <a:p>
                      <a:r>
                        <a:rPr sz="1875" b="0">
                          <a:solidFill>
                            <a:srgbClr val="182B3A"/>
                          </a:solidFill>
                          <a:latin typeface="Arial"/>
                          <a:ea typeface="Arial"/>
                          <a:cs typeface="Arial"/>
                        </a:rPr>
                        <a:t>3 of 5</a:t>
                      </a:r>
                    </a:p>
                  </a:txBody>
                  <a:tcPr marL="114300" marR="114300" marT="95250" marB="95250" anchor="ctr">
                    <a:solidFill>
                      <a:srgbClr val="F2F5F8"/>
                    </a:solidFill>
                  </a:tcPr>
                </a:tc>
              </a:tr>
              <a:tr h="771525">
                <a:tc>
                  <a:txBody>
                    <a:bodyPr/>
                    <a:lstStyle/>
                    <a:p>
                      <a:r>
                        <a:rPr sz="1875" b="0">
                          <a:solidFill>
                            <a:srgbClr val="182B3A"/>
                          </a:solidFill>
                          <a:latin typeface="Arial"/>
                          <a:ea typeface="Arial"/>
                          <a:cs typeface="Arial"/>
                        </a:rPr>
                        <a:t>Rule and notification workflow</a:t>
                      </a:r>
                    </a:p>
                  </a:txBody>
                  <a:tcPr marL="114300" marR="114300" marT="95250" marB="95250" anchor="ctr">
                    <a:solidFill>
                      <a:srgbClr val="FFFFFF"/>
                    </a:solidFill>
                  </a:tcPr>
                </a:tc>
                <a:tc>
                  <a:txBody>
                    <a:bodyPr/>
                    <a:lstStyle/>
                    <a:p>
                      <a:r>
                        <a:rPr sz="1875" b="0">
                          <a:solidFill>
                            <a:srgbClr val="182B3A"/>
                          </a:solidFill>
                          <a:latin typeface="Arial"/>
                          <a:ea typeface="Arial"/>
                          <a:cs typeface="Arial"/>
                        </a:rPr>
                        <a:t>Redis CRUD and one accepted Telegram send</a:t>
                      </a:r>
                    </a:p>
                  </a:txBody>
                  <a:tcPr marL="114300" marR="114300" marT="95250" marB="95250" anchor="ctr">
                    <a:solidFill>
                      <a:srgbClr val="FFFFFF"/>
                    </a:solidFill>
                  </a:tcPr>
                </a:tc>
                <a:tc>
                  <a:txBody>
                    <a:bodyPr/>
                    <a:lstStyle/>
                    <a:p>
                      <a:r>
                        <a:rPr sz="1875" b="0">
                          <a:solidFill>
                            <a:srgbClr val="182B3A"/>
                          </a:solidFill>
                          <a:latin typeface="Arial"/>
                          <a:ea typeface="Arial"/>
                          <a:cs typeface="Arial"/>
                        </a:rPr>
                        <a:t>Delivered subset</a:t>
                      </a:r>
                    </a:p>
                  </a:txBody>
                  <a:tcPr marL="114300" marR="114300" marT="95250" marB="95250" anchor="ctr">
                    <a:solidFill>
                      <a:srgbClr val="FFFFFF"/>
                    </a:solidFill>
                  </a:tcPr>
                </a:tc>
              </a:tr>
              <a:tr h="771525">
                <a:tc>
                  <a:txBody>
                    <a:bodyPr/>
                    <a:lstStyle/>
                    <a:p>
                      <a:r>
                        <a:rPr sz="1875" b="0">
                          <a:solidFill>
                            <a:srgbClr val="182B3A"/>
                          </a:solidFill>
                          <a:latin typeface="Arial"/>
                          <a:ea typeface="Arial"/>
                          <a:cs typeface="Arial"/>
                        </a:rPr>
                        <a:t>AI evaluation</a:t>
                      </a:r>
                    </a:p>
                  </a:txBody>
                  <a:tcPr marL="114300" marR="114300" marT="95250" marB="95250" anchor="ctr">
                    <a:solidFill>
                      <a:srgbClr val="F2F5F8"/>
                    </a:solidFill>
                  </a:tcPr>
                </a:tc>
                <a:tc>
                  <a:txBody>
                    <a:bodyPr/>
                    <a:lstStyle/>
                    <a:p>
                      <a:r>
                        <a:rPr sz="1875" b="0">
                          <a:solidFill>
                            <a:srgbClr val="182B3A"/>
                          </a:solidFill>
                          <a:latin typeface="Arial"/>
                          <a:ea typeface="Arial"/>
                          <a:cs typeface="Arial"/>
                        </a:rPr>
                        <a:t>Six live questions and recorded scores</a:t>
                      </a:r>
                    </a:p>
                  </a:txBody>
                  <a:tcPr marL="114300" marR="114300" marT="95250" marB="95250" anchor="ctr">
                    <a:solidFill>
                      <a:srgbClr val="F2F5F8"/>
                    </a:solidFill>
                  </a:tcPr>
                </a:tc>
                <a:tc>
                  <a:txBody>
                    <a:bodyPr/>
                    <a:lstStyle/>
                    <a:p>
                      <a:r>
                        <a:rPr sz="1875" b="0">
                          <a:solidFill>
                            <a:srgbClr val="182B3A"/>
                          </a:solidFill>
                          <a:latin typeface="Arial"/>
                          <a:ea typeface="Arial"/>
                          <a:cs typeface="Arial"/>
                        </a:rPr>
                        <a:t>Exploratory pilot</a:t>
                      </a:r>
                    </a:p>
                  </a:txBody>
                  <a:tcPr marL="114300" marR="114300" marT="95250" marB="95250" anchor="ctr">
                    <a:solidFill>
                      <a:srgbClr val="F2F5F8"/>
                    </a:solidFill>
                  </a:tcPr>
                </a:tc>
              </a:tr>
            </a:tbl>
          </a:graphicData>
        </a:graphic>
      </p:graphicFrame>
      <p:sp>
        <p:nvSpPr>
          <p:cNvPr id="4" name="">
            <a:extLst xmlns:a="http://schemas.openxmlformats.org/drawingml/2006/main">
              <a:ext uri="{FF2B5EF4-FFF2-40B4-BE49-F238E27FC236}">
                <a16:creationId xmlns:a16="http://schemas.microsoft.com/office/drawing/2014/main" id="{8919845C-4A98-4A34-8957-2D1B8F9F5820}"/>
              </a:ext>
            </a:extLst>
          </p:cNvPr>
          <p:cNvSpPr>
            <a:spLocks xmlns:a="http://schemas.openxmlformats.org/drawingml/2006/main" noGrp="1"/>
          </p:cNvSpPr>
          <p:nvPr/>
        </p:nvSpPr>
        <p:spPr>
          <a:xfrm xmlns:a="http://schemas.openxmlformats.org/drawingml/2006/main">
            <a:off x="685800" y="5600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7"/>
                </a:solidFill>
                <a:latin typeface="Arial"/>
                <a:ea typeface="Arial"/>
                <a:cs typeface="Arial"/>
              </a:defRPr>
            </a:defPPr>
          </a:lstStyle>
          <a:p xmlns:a="http://schemas.openxmlformats.org/drawingml/2006/main">
            <a:pPr algn="l">
              <a:defRPr sz="1875" b="0">
                <a:solidFill>
                  <a:srgbClr val="526677"/>
                </a:solidFill>
                <a:latin typeface="Arial"/>
                <a:ea typeface="Arial"/>
                <a:cs typeface="Arial"/>
              </a:defRPr>
            </a:pPr>
            <a:r>
              <a:rPr sz="1875" b="0">
                <a:solidFill>
                  <a:srgbClr val="526677"/>
                </a:solidFill>
                <a:latin typeface="Arial"/>
                <a:ea typeface="Arial"/>
                <a:cs typeface="Arial"/>
              </a:rPr>
              <a:t>No profitability or forecast-accuracy claim forms part of acceptance.</a:t>
            </a:r>
          </a:p>
        </p:txBody>
      </p:sp>
    </p:spTree>
    <p:extLst>
      <p:ext uri="{BB962C8B-B14F-4D97-AF65-F5344CB8AC3E}">
        <p14:creationId xmlns:p14="http://schemas.microsoft.com/office/powerpoint/2010/main" val="1831203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70F2C18-22E6-4DC8-8550-8F28123AB821}"/>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Task allocation and contribution</a:t>
            </a:r>
          </a:p>
        </p:txBody>
      </p:sp>
      <p:sp>
        <p:nvSpPr>
          <p:cNvPr id="2" name="">
            <a:extLst xmlns:a="http://schemas.openxmlformats.org/drawingml/2006/main">
              <a:ext uri="{FF2B5EF4-FFF2-40B4-BE49-F238E27FC236}">
                <a16:creationId xmlns:a16="http://schemas.microsoft.com/office/drawing/2014/main" id="{EE3C17BC-8481-4078-8D04-EF1BE13BEB0B}"/>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80243319-B9EA-4BE1-A341-853E90816634}"/>
              </a:ext>
            </a:extLst>
          </p:cNvPr>
          <p:cNvGraphicFramePr/>
          <p:nvPr/>
        </p:nvGraphicFramePr>
        <p:xfrm>
          <a:off xmlns:a="http://schemas.openxmlformats.org/drawingml/2006/main" x="685800" y="1409700"/>
          <a:ext xmlns:a="http://schemas.openxmlformats.org/drawingml/2006/main" cx="10820400" cy="4286250"/>
        </p:xfrm>
        <a:graphic xmlns:a="http://schemas.openxmlformats.org/drawingml/2006/main">
          <a:graphicData uri="http://schemas.openxmlformats.org/drawingml/2006/table">
            <a:tbl>
              <a:tblPr/>
              <a:tblGrid>
                <a:gridCol w="3048000"/>
                <a:gridCol w="6191250"/>
                <a:gridCol w="1581150"/>
              </a:tblGrid>
              <a:tr h="714375">
                <a:tc>
                  <a:txBody>
                    <a:bodyPr/>
                    <a:lstStyle/>
                    <a:p>
                      <a:r>
                        <a:rPr sz="1800" b="1">
                          <a:solidFill>
                            <a:srgbClr val="FFFFFF"/>
                          </a:solidFill>
                          <a:latin typeface="Arial"/>
                          <a:ea typeface="Arial"/>
                          <a:cs typeface="Arial"/>
                        </a:rPr>
                        <a:t>Member</a:t>
                      </a:r>
                    </a:p>
                  </a:txBody>
                  <a:tcPr marL="114300" marR="114300" marT="95250" marB="95250" anchor="ctr">
                    <a:solidFill>
                      <a:srgbClr val="17344D"/>
                    </a:solidFill>
                  </a:tcPr>
                </a:tc>
                <a:tc>
                  <a:txBody>
                    <a:bodyPr/>
                    <a:lstStyle/>
                    <a:p>
                      <a:r>
                        <a:rPr sz="1800" b="1">
                          <a:solidFill>
                            <a:srgbClr val="FFFFFF"/>
                          </a:solidFill>
                          <a:latin typeface="Arial"/>
                          <a:ea typeface="Arial"/>
                          <a:cs typeface="Arial"/>
                        </a:rPr>
                        <a:t>Primary responsibility</a:t>
                      </a:r>
                    </a:p>
                  </a:txBody>
                  <a:tcPr marL="114300" marR="114300" marT="95250" marB="95250" anchor="ctr">
                    <a:solidFill>
                      <a:srgbClr val="17344D"/>
                    </a:solidFill>
                  </a:tcPr>
                </a:tc>
                <a:tc>
                  <a:txBody>
                    <a:bodyPr/>
                    <a:lstStyle/>
                    <a:p>
                      <a:r>
                        <a:rPr sz="1800" b="1">
                          <a:solidFill>
                            <a:srgbClr val="FFFFFF"/>
                          </a:solidFill>
                          <a:latin typeface="Arial"/>
                          <a:ea typeface="Arial"/>
                          <a:cs typeface="Arial"/>
                        </a:rPr>
                        <a:t>Share %</a:t>
                      </a:r>
                    </a:p>
                  </a:txBody>
                  <a:tcPr marL="114300" marR="114300" marT="95250" marB="95250" anchor="ctr">
                    <a:solidFill>
                      <a:srgbClr val="17344D"/>
                    </a:solidFill>
                  </a:tcPr>
                </a:tc>
              </a:tr>
              <a:tr h="714375">
                <a:tc>
                  <a:txBody>
                    <a:bodyPr/>
                    <a:lstStyle/>
                    <a:p>
                      <a:r>
                        <a:rPr sz="1800" b="0">
                          <a:solidFill>
                            <a:srgbClr val="182B3A"/>
                          </a:solidFill>
                          <a:latin typeface="Arial"/>
                          <a:ea typeface="Arial"/>
                          <a:cs typeface="Arial"/>
                        </a:rPr>
                        <a:t>Phương Hữu Thành Nam</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Indicator formulas and numerical fixtures</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25</a:t>
                      </a:r>
                    </a:p>
                  </a:txBody>
                  <a:tcPr marL="114300" marR="114300" marT="95250" marB="95250" anchor="ctr">
                    <a:solidFill>
                      <a:srgbClr val="FFFFFF"/>
                    </a:solidFill>
                  </a:tcPr>
                </a:tc>
              </a:tr>
              <a:tr h="714375">
                <a:tc>
                  <a:txBody>
                    <a:bodyPr/>
                    <a:lstStyle/>
                    <a:p>
                      <a:r>
                        <a:rPr sz="1800" b="0">
                          <a:solidFill>
                            <a:srgbClr val="182B3A"/>
                          </a:solidFill>
                          <a:latin typeface="Arial"/>
                          <a:ea typeface="Arial"/>
                          <a:cs typeface="Arial"/>
                        </a:rPr>
                        <a:t>Bùi Quý Đăng</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OpenAI and Telegram integration</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25</a:t>
                      </a:r>
                    </a:p>
                  </a:txBody>
                  <a:tcPr marL="114300" marR="114300" marT="95250" marB="95250" anchor="ctr">
                    <a:solidFill>
                      <a:srgbClr val="F2F5F8"/>
                    </a:solidFill>
                  </a:tcPr>
                </a:tc>
              </a:tr>
              <a:tr h="714375">
                <a:tc>
                  <a:txBody>
                    <a:bodyPr/>
                    <a:lstStyle/>
                    <a:p>
                      <a:r>
                        <a:rPr sz="1800" b="0">
                          <a:solidFill>
                            <a:srgbClr val="182B3A"/>
                          </a:solidFill>
                          <a:latin typeface="Arial"/>
                          <a:ea typeface="Arial"/>
                          <a:cs typeface="Arial"/>
                        </a:rPr>
                        <a:t>Nguyễn Anh Vũ</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Binance, frontend and WebSocket prototype</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25</a:t>
                      </a:r>
                    </a:p>
                  </a:txBody>
                  <a:tcPr marL="114300" marR="114300" marT="95250" marB="95250" anchor="ctr">
                    <a:solidFill>
                      <a:srgbClr val="FFFFFF"/>
                    </a:solidFill>
                  </a:tcPr>
                </a:tc>
              </a:tr>
              <a:tr h="714375">
                <a:tc>
                  <a:txBody>
                    <a:bodyPr/>
                    <a:lstStyle/>
                    <a:p>
                      <a:r>
                        <a:rPr sz="1800" b="0">
                          <a:solidFill>
                            <a:srgbClr val="182B3A"/>
                          </a:solidFill>
                          <a:latin typeface="Arial"/>
                          <a:ea typeface="Arial"/>
                          <a:cs typeface="Arial"/>
                        </a:rPr>
                        <a:t>Đào Công Tuấn</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Rule workflow and integration verification</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25</a:t>
                      </a:r>
                    </a:p>
                  </a:txBody>
                  <a:tcPr marL="114300" marR="114300" marT="95250" marB="95250" anchor="ctr">
                    <a:solidFill>
                      <a:srgbClr val="F2F5F8"/>
                    </a:solidFill>
                  </a:tcPr>
                </a:tc>
              </a:tr>
              <a:tr h="714375">
                <a:tc>
                  <a:txBody>
                    <a:bodyPr/>
                    <a:lstStyle/>
                    <a:p>
                      <a:r>
                        <a:rPr sz="1800" b="0">
                          <a:solidFill>
                            <a:srgbClr val="182B3A"/>
                          </a:solidFill>
                          <a:latin typeface="Arial"/>
                          <a:ea typeface="Arial"/>
                          <a:cs typeface="Arial"/>
                        </a:rPr>
                        <a:t>Total</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Shared testing, documentation and presentation</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100</a:t>
                      </a:r>
                    </a:p>
                  </a:txBody>
                  <a:tcPr marL="114300" marR="114300" marT="95250" marB="95250" anchor="ctr">
                    <a:solidFill>
                      <a:srgbClr val="FFFFFF"/>
                    </a:solidFill>
                  </a:tcPr>
                </a:tc>
              </a:tr>
            </a:tbl>
          </a:graphicData>
        </a:graphic>
      </p:graphicFrame>
    </p:spTree>
    <p:extLst>
      <p:ext uri="{BB962C8B-B14F-4D97-AF65-F5344CB8AC3E}">
        <p14:creationId xmlns:p14="http://schemas.microsoft.com/office/powerpoint/2010/main" val="6295881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F0FDFDD-5ECD-4FF0-8271-B2F8772B96A3}"/>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Completed features and boundaries</a:t>
            </a:r>
          </a:p>
        </p:txBody>
      </p:sp>
      <p:sp>
        <p:nvSpPr>
          <p:cNvPr id="2" name="">
            <a:extLst xmlns:a="http://schemas.openxmlformats.org/drawingml/2006/main">
              <a:ext uri="{FF2B5EF4-FFF2-40B4-BE49-F238E27FC236}">
                <a16:creationId xmlns:a16="http://schemas.microsoft.com/office/drawing/2014/main" id="{8227CF8B-8318-4A01-B990-111171CF8787}"/>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C17D50ED-A11F-4B0E-A34E-BD4248C24D66}"/>
              </a:ext>
            </a:extLst>
          </p:cNvPr>
          <p:cNvGraphicFramePr/>
          <p:nvPr/>
        </p:nvGraphicFramePr>
        <p:xfrm>
          <a:off xmlns:a="http://schemas.openxmlformats.org/drawingml/2006/main" x="685800" y="1409700"/>
          <a:ext xmlns:a="http://schemas.openxmlformats.org/drawingml/2006/main" cx="10820400" cy="4333875"/>
        </p:xfrm>
        <a:graphic xmlns:a="http://schemas.openxmlformats.org/drawingml/2006/main">
          <a:graphicData uri="http://schemas.openxmlformats.org/drawingml/2006/table">
            <a:tbl>
              <a:tblPr/>
              <a:tblGrid>
                <a:gridCol w="2000250"/>
                <a:gridCol w="4286250"/>
                <a:gridCol w="4533900"/>
              </a:tblGrid>
              <a:tr h="722313">
                <a:tc>
                  <a:txBody>
                    <a:bodyPr/>
                    <a:lstStyle/>
                    <a:p>
                      <a:r>
                        <a:rPr sz="1725" b="1">
                          <a:solidFill>
                            <a:srgbClr val="FFFFFF"/>
                          </a:solidFill>
                          <a:latin typeface="Arial"/>
                          <a:ea typeface="Arial"/>
                          <a:cs typeface="Arial"/>
                        </a:rPr>
                        <a:t>Area</a:t>
                      </a:r>
                    </a:p>
                  </a:txBody>
                  <a:tcPr marL="114300" marR="114300" marT="95250" marB="95250" anchor="ctr">
                    <a:solidFill>
                      <a:srgbClr val="17344D"/>
                    </a:solidFill>
                  </a:tcPr>
                </a:tc>
                <a:tc>
                  <a:txBody>
                    <a:bodyPr/>
                    <a:lstStyle/>
                    <a:p>
                      <a:r>
                        <a:rPr sz="1725" b="1">
                          <a:solidFill>
                            <a:srgbClr val="FFFFFF"/>
                          </a:solidFill>
                          <a:latin typeface="Arial"/>
                          <a:ea typeface="Arial"/>
                          <a:cs typeface="Arial"/>
                        </a:rPr>
                        <a:t>Completed</a:t>
                      </a:r>
                    </a:p>
                  </a:txBody>
                  <a:tcPr marL="114300" marR="114300" marT="95250" marB="95250" anchor="ctr">
                    <a:solidFill>
                      <a:srgbClr val="17344D"/>
                    </a:solidFill>
                  </a:tcPr>
                </a:tc>
                <a:tc>
                  <a:txBody>
                    <a:bodyPr/>
                    <a:lstStyle/>
                    <a:p>
                      <a:r>
                        <a:rPr sz="1725" b="1">
                          <a:solidFill>
                            <a:srgbClr val="FFFFFF"/>
                          </a:solidFill>
                          <a:latin typeface="Arial"/>
                          <a:ea typeface="Arial"/>
                          <a:cs typeface="Arial"/>
                        </a:rPr>
                        <a:t>Boundary</a:t>
                      </a:r>
                    </a:p>
                  </a:txBody>
                  <a:tcPr marL="114300" marR="114300" marT="95250" marB="95250" anchor="ctr">
                    <a:solidFill>
                      <a:srgbClr val="17344D"/>
                    </a:solidFill>
                  </a:tcPr>
                </a:tc>
              </a:tr>
              <a:tr h="722313">
                <a:tc>
                  <a:txBody>
                    <a:bodyPr/>
                    <a:lstStyle/>
                    <a:p>
                      <a:r>
                        <a:rPr sz="1725" b="0">
                          <a:solidFill>
                            <a:srgbClr val="182B3A"/>
                          </a:solidFill>
                          <a:latin typeface="Arial"/>
                          <a:ea typeface="Arial"/>
                          <a:cs typeface="Arial"/>
                        </a:rPr>
                        <a:t>Market data</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REST retrieval and Redis cache</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No continuous five-pair worker</a:t>
                      </a:r>
                    </a:p>
                  </a:txBody>
                  <a:tcPr marL="114300" marR="114300" marT="95250" marB="95250" anchor="ctr">
                    <a:solidFill>
                      <a:srgbClr val="FFFFFF"/>
                    </a:solidFill>
                  </a:tcPr>
                </a:tc>
              </a:tr>
              <a:tr h="722313">
                <a:tc>
                  <a:txBody>
                    <a:bodyPr/>
                    <a:lstStyle/>
                    <a:p>
                      <a:r>
                        <a:rPr sz="1725" b="0">
                          <a:solidFill>
                            <a:srgbClr val="182B3A"/>
                          </a:solidFill>
                          <a:latin typeface="Arial"/>
                          <a:ea typeface="Arial"/>
                          <a:cs typeface="Arial"/>
                        </a:rPr>
                        <a:t>Indicators</a:t>
                      </a:r>
                    </a:p>
                  </a:txBody>
                  <a:tcPr marL="114300" marR="114300" marT="95250" marB="95250" anchor="ctr">
                    <a:solidFill>
                      <a:srgbClr val="F2F5F8"/>
                    </a:solidFill>
                  </a:tcPr>
                </a:tc>
                <a:tc>
                  <a:txBody>
                    <a:bodyPr/>
                    <a:lstStyle/>
                    <a:p>
                      <a:r>
                        <a:rPr sz="1725" b="0">
                          <a:solidFill>
                            <a:srgbClr val="182B3A"/>
                          </a:solidFill>
                          <a:latin typeface="Arial"/>
                          <a:ea typeface="Arial"/>
                          <a:cs typeface="Arial"/>
                        </a:rPr>
                        <a:t>SMA, EMA and Wilder RSI</a:t>
                      </a:r>
                    </a:p>
                  </a:txBody>
                  <a:tcPr marL="114300" marR="114300" marT="95250" marB="95250" anchor="ctr">
                    <a:solidFill>
                      <a:srgbClr val="F2F5F8"/>
                    </a:solidFill>
                  </a:tcPr>
                </a:tc>
                <a:tc>
                  <a:txBody>
                    <a:bodyPr/>
                    <a:lstStyle/>
                    <a:p>
                      <a:r>
                        <a:rPr sz="1725" b="0">
                          <a:solidFill>
                            <a:srgbClr val="182B3A"/>
                          </a:solidFill>
                          <a:latin typeface="Arial"/>
                          <a:ea typeface="Arial"/>
                          <a:cs typeface="Arial"/>
                        </a:rPr>
                        <a:t>MACD and Bollinger Bands open</a:t>
                      </a:r>
                    </a:p>
                  </a:txBody>
                  <a:tcPr marL="114300" marR="114300" marT="95250" marB="95250" anchor="ctr">
                    <a:solidFill>
                      <a:srgbClr val="F2F5F8"/>
                    </a:solidFill>
                  </a:tcPr>
                </a:tc>
              </a:tr>
              <a:tr h="722313">
                <a:tc>
                  <a:txBody>
                    <a:bodyPr/>
                    <a:lstStyle/>
                    <a:p>
                      <a:r>
                        <a:rPr sz="1725" b="0">
                          <a:solidFill>
                            <a:srgbClr val="182B3A"/>
                          </a:solidFill>
                          <a:latin typeface="Arial"/>
                          <a:ea typeface="Arial"/>
                          <a:cs typeface="Arial"/>
                        </a:rPr>
                        <a:t>Rules</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Persistent CRUD and numeric comparisons</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Compound rules and crossovers open</a:t>
                      </a:r>
                    </a:p>
                  </a:txBody>
                  <a:tcPr marL="114300" marR="114300" marT="95250" marB="95250" anchor="ctr">
                    <a:solidFill>
                      <a:srgbClr val="FFFFFF"/>
                    </a:solidFill>
                  </a:tcPr>
                </a:tc>
              </a:tr>
              <a:tr h="722313">
                <a:tc>
                  <a:txBody>
                    <a:bodyPr/>
                    <a:lstStyle/>
                    <a:p>
                      <a:r>
                        <a:rPr sz="1725" b="0">
                          <a:solidFill>
                            <a:srgbClr val="182B3A"/>
                          </a:solidFill>
                          <a:latin typeface="Arial"/>
                          <a:ea typeface="Arial"/>
                          <a:cs typeface="Arial"/>
                        </a:rPr>
                        <a:t>Notifications</a:t>
                      </a:r>
                    </a:p>
                  </a:txBody>
                  <a:tcPr marL="114300" marR="114300" marT="95250" marB="95250" anchor="ctr">
                    <a:solidFill>
                      <a:srgbClr val="F2F5F8"/>
                    </a:solidFill>
                  </a:tcPr>
                </a:tc>
                <a:tc>
                  <a:txBody>
                    <a:bodyPr/>
                    <a:lstStyle/>
                    <a:p>
                      <a:r>
                        <a:rPr sz="1725" b="0">
                          <a:solidFill>
                            <a:srgbClr val="182B3A"/>
                          </a:solidFill>
                          <a:latin typeface="Arial"/>
                          <a:ea typeface="Arial"/>
                          <a:cs typeface="Arial"/>
                        </a:rPr>
                        <a:t>Telegram with optional AI interpretation</a:t>
                      </a:r>
                    </a:p>
                  </a:txBody>
                  <a:tcPr marL="114300" marR="114300" marT="95250" marB="95250" anchor="ctr">
                    <a:solidFill>
                      <a:srgbClr val="F2F5F8"/>
                    </a:solidFill>
                  </a:tcPr>
                </a:tc>
                <a:tc>
                  <a:txBody>
                    <a:bodyPr/>
                    <a:lstStyle/>
                    <a:p>
                      <a:r>
                        <a:rPr sz="1725" b="0">
                          <a:solidFill>
                            <a:srgbClr val="182B3A"/>
                          </a:solidFill>
                          <a:latin typeface="Arial"/>
                          <a:ea typeface="Arial"/>
                          <a:cs typeface="Arial"/>
                        </a:rPr>
                        <a:t>One scheduler-enabled API process</a:t>
                      </a:r>
                    </a:p>
                  </a:txBody>
                  <a:tcPr marL="114300" marR="114300" marT="95250" marB="95250" anchor="ctr">
                    <a:solidFill>
                      <a:srgbClr val="F2F5F8"/>
                    </a:solidFill>
                  </a:tcPr>
                </a:tc>
              </a:tr>
              <a:tr h="722313">
                <a:tc>
                  <a:txBody>
                    <a:bodyPr/>
                    <a:lstStyle/>
                    <a:p>
                      <a:r>
                        <a:rPr sz="1725" b="0">
                          <a:solidFill>
                            <a:srgbClr val="182B3A"/>
                          </a:solidFill>
                          <a:latin typeface="Arial"/>
                          <a:ea typeface="Arial"/>
                          <a:cs typeface="Arial"/>
                        </a:rPr>
                        <a:t>Chat and UI</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Grounded English answers and EN/VI labels</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No account access or order execution</a:t>
                      </a:r>
                    </a:p>
                  </a:txBody>
                  <a:tcPr marL="114300" marR="114300" marT="95250" marB="95250" anchor="ctr">
                    <a:solidFill>
                      <a:srgbClr val="FFFFFF"/>
                    </a:solidFill>
                  </a:tcPr>
                </a:tc>
              </a:tr>
            </a:tbl>
          </a:graphicData>
        </a:graphic>
      </p:graphicFrame>
    </p:spTree>
    <p:extLst>
      <p:ext uri="{BB962C8B-B14F-4D97-AF65-F5344CB8AC3E}">
        <p14:creationId xmlns:p14="http://schemas.microsoft.com/office/powerpoint/2010/main" val="1265449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57FB58-106E-4BE5-91DE-58AF5A2E062C}"/>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Current system integration</a:t>
            </a:r>
          </a:p>
        </p:txBody>
      </p:sp>
      <p:sp>
        <p:nvSpPr>
          <p:cNvPr id="2" name="">
            <a:extLst xmlns:a="http://schemas.openxmlformats.org/drawingml/2006/main">
              <a:ext uri="{FF2B5EF4-FFF2-40B4-BE49-F238E27FC236}">
                <a16:creationId xmlns:a16="http://schemas.microsoft.com/office/drawing/2014/main" id="{982B867D-25DB-4501-8FD8-4EB9050685EF}"/>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6</a:t>
            </a:r>
          </a:p>
        </p:txBody>
      </p:sp>
      <p:graphicFrame>
        <p:nvGraphicFramePr>
          <p:cNvPr id="3" name="">
            <a:extLst xmlns:a="http://schemas.openxmlformats.org/drawingml/2006/main">
              <a:ext uri="{FF2B5EF4-FFF2-40B4-BE49-F238E27FC236}">
                <a16:creationId xmlns:a16="http://schemas.microsoft.com/office/drawing/2014/main" id="{408B98C9-DBE6-40D5-94F1-C2B66DD95375}"/>
              </a:ext>
            </a:extLst>
          </p:cNvPr>
          <p:cNvGraphicFramePr/>
          <p:nvPr/>
        </p:nvGraphicFramePr>
        <p:xfrm>
          <a:off xmlns:a="http://schemas.openxmlformats.org/drawingml/2006/main" x="685800" y="1409700"/>
          <a:ext xmlns:a="http://schemas.openxmlformats.org/drawingml/2006/main" cx="10820400" cy="4095750"/>
        </p:xfrm>
        <a:graphic xmlns:a="http://schemas.openxmlformats.org/drawingml/2006/main">
          <a:graphicData uri="http://schemas.openxmlformats.org/drawingml/2006/table">
            <a:tbl>
              <a:tblPr/>
              <a:tblGrid>
                <a:gridCol w="4191000"/>
                <a:gridCol w="2667000"/>
                <a:gridCol w="3962400"/>
              </a:tblGrid>
              <a:tr h="682625">
                <a:tc>
                  <a:txBody>
                    <a:bodyPr/>
                    <a:lstStyle/>
                    <a:p>
                      <a:r>
                        <a:rPr sz="1725" b="1">
                          <a:solidFill>
                            <a:srgbClr val="FFFFFF"/>
                          </a:solidFill>
                          <a:latin typeface="Arial"/>
                          <a:ea typeface="Arial"/>
                          <a:cs typeface="Arial"/>
                        </a:rPr>
                        <a:t>Component relationship</a:t>
                      </a:r>
                    </a:p>
                  </a:txBody>
                  <a:tcPr marL="114300" marR="114300" marT="95250" marB="95250" anchor="ctr">
                    <a:solidFill>
                      <a:srgbClr val="17344D"/>
                    </a:solidFill>
                  </a:tcPr>
                </a:tc>
                <a:tc>
                  <a:txBody>
                    <a:bodyPr/>
                    <a:lstStyle/>
                    <a:p>
                      <a:r>
                        <a:rPr sz="1725" b="1">
                          <a:solidFill>
                            <a:srgbClr val="FFFFFF"/>
                          </a:solidFill>
                          <a:latin typeface="Arial"/>
                          <a:ea typeface="Arial"/>
                          <a:cs typeface="Arial"/>
                        </a:rPr>
                        <a:t>Transport</a:t>
                      </a:r>
                    </a:p>
                  </a:txBody>
                  <a:tcPr marL="114300" marR="114300" marT="95250" marB="95250" anchor="ctr">
                    <a:solidFill>
                      <a:srgbClr val="17344D"/>
                    </a:solidFill>
                  </a:tcPr>
                </a:tc>
                <a:tc>
                  <a:txBody>
                    <a:bodyPr/>
                    <a:lstStyle/>
                    <a:p>
                      <a:r>
                        <a:rPr sz="1725" b="1">
                          <a:solidFill>
                            <a:srgbClr val="FFFFFF"/>
                          </a:solidFill>
                          <a:latin typeface="Arial"/>
                          <a:ea typeface="Arial"/>
                          <a:cs typeface="Arial"/>
                        </a:rPr>
                        <a:t>Purpose</a:t>
                      </a:r>
                    </a:p>
                  </a:txBody>
                  <a:tcPr marL="114300" marR="114300" marT="95250" marB="95250" anchor="ctr">
                    <a:solidFill>
                      <a:srgbClr val="17344D"/>
                    </a:solidFill>
                  </a:tcPr>
                </a:tc>
              </a:tr>
              <a:tr h="682625">
                <a:tc>
                  <a:txBody>
                    <a:bodyPr/>
                    <a:lstStyle/>
                    <a:p>
                      <a:r>
                        <a:rPr sz="1725" b="0">
                          <a:solidFill>
                            <a:srgbClr val="182B3A"/>
                          </a:solidFill>
                          <a:latin typeface="Arial"/>
                          <a:ea typeface="Arial"/>
                          <a:cs typeface="Arial"/>
                        </a:rPr>
                        <a:t>React with FastAPI</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HTTP JSON</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Symbols, indicators, rules and chat</a:t>
                      </a:r>
                    </a:p>
                  </a:txBody>
                  <a:tcPr marL="114300" marR="114300" marT="95250" marB="95250" anchor="ctr">
                    <a:solidFill>
                      <a:srgbClr val="FFFFFF"/>
                    </a:solidFill>
                  </a:tcPr>
                </a:tc>
              </a:tr>
              <a:tr h="682625">
                <a:tc>
                  <a:txBody>
                    <a:bodyPr/>
                    <a:lstStyle/>
                    <a:p>
                      <a:r>
                        <a:rPr sz="1725" b="0">
                          <a:solidFill>
                            <a:srgbClr val="182B3A"/>
                          </a:solidFill>
                          <a:latin typeface="Arial"/>
                          <a:ea typeface="Arial"/>
                          <a:cs typeface="Arial"/>
                        </a:rPr>
                        <a:t>FastAPI with Binance</a:t>
                      </a:r>
                    </a:p>
                  </a:txBody>
                  <a:tcPr marL="114300" marR="114300" marT="95250" marB="95250" anchor="ctr">
                    <a:solidFill>
                      <a:srgbClr val="F2F5F8"/>
                    </a:solidFill>
                  </a:tcPr>
                </a:tc>
                <a:tc>
                  <a:txBody>
                    <a:bodyPr/>
                    <a:lstStyle/>
                    <a:p>
                      <a:r>
                        <a:rPr sz="1725" b="0">
                          <a:solidFill>
                            <a:srgbClr val="182B3A"/>
                          </a:solidFill>
                          <a:latin typeface="Arial"/>
                          <a:ea typeface="Arial"/>
                          <a:cs typeface="Arial"/>
                        </a:rPr>
                        <a:t>HTTPS REST</a:t>
                      </a:r>
                    </a:p>
                  </a:txBody>
                  <a:tcPr marL="114300" marR="114300" marT="95250" marB="95250" anchor="ctr">
                    <a:solidFill>
                      <a:srgbClr val="F2F5F8"/>
                    </a:solidFill>
                  </a:tcPr>
                </a:tc>
                <a:tc>
                  <a:txBody>
                    <a:bodyPr/>
                    <a:lstStyle/>
                    <a:p>
                      <a:r>
                        <a:rPr sz="1725" b="0">
                          <a:solidFill>
                            <a:srgbClr val="182B3A"/>
                          </a:solidFill>
                          <a:latin typeface="Arial"/>
                          <a:ea typeface="Arial"/>
                          <a:cs typeface="Arial"/>
                        </a:rPr>
                        <a:t>Candle history and symbols</a:t>
                      </a:r>
                    </a:p>
                  </a:txBody>
                  <a:tcPr marL="114300" marR="114300" marT="95250" marB="95250" anchor="ctr">
                    <a:solidFill>
                      <a:srgbClr val="F2F5F8"/>
                    </a:solidFill>
                  </a:tcPr>
                </a:tc>
              </a:tr>
              <a:tr h="682625">
                <a:tc>
                  <a:txBody>
                    <a:bodyPr/>
                    <a:lstStyle/>
                    <a:p>
                      <a:r>
                        <a:rPr sz="1725" b="0">
                          <a:solidFill>
                            <a:srgbClr val="182B3A"/>
                          </a:solidFill>
                          <a:latin typeface="Arial"/>
                          <a:ea typeface="Arial"/>
                          <a:cs typeface="Arial"/>
                        </a:rPr>
                        <a:t>FastAPI with Redis</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Redis client</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Cache, rules and monitoring state</a:t>
                      </a:r>
                    </a:p>
                  </a:txBody>
                  <a:tcPr marL="114300" marR="114300" marT="95250" marB="95250" anchor="ctr">
                    <a:solidFill>
                      <a:srgbClr val="FFFFFF"/>
                    </a:solidFill>
                  </a:tcPr>
                </a:tc>
              </a:tr>
              <a:tr h="682625">
                <a:tc>
                  <a:txBody>
                    <a:bodyPr/>
                    <a:lstStyle/>
                    <a:p>
                      <a:r>
                        <a:rPr sz="1725" b="0">
                          <a:solidFill>
                            <a:srgbClr val="182B3A"/>
                          </a:solidFill>
                          <a:latin typeface="Arial"/>
                          <a:ea typeface="Arial"/>
                          <a:cs typeface="Arial"/>
                        </a:rPr>
                        <a:t>FastAPI with OpenAI</a:t>
                      </a:r>
                    </a:p>
                  </a:txBody>
                  <a:tcPr marL="114300" marR="114300" marT="95250" marB="95250" anchor="ctr">
                    <a:solidFill>
                      <a:srgbClr val="F2F5F8"/>
                    </a:solidFill>
                  </a:tcPr>
                </a:tc>
                <a:tc>
                  <a:txBody>
                    <a:bodyPr/>
                    <a:lstStyle/>
                    <a:p>
                      <a:r>
                        <a:rPr sz="1725" b="0">
                          <a:solidFill>
                            <a:srgbClr val="182B3A"/>
                          </a:solidFill>
                          <a:latin typeface="Arial"/>
                          <a:ea typeface="Arial"/>
                          <a:cs typeface="Arial"/>
                        </a:rPr>
                        <a:t>HTTPS Responses API</a:t>
                      </a:r>
                    </a:p>
                  </a:txBody>
                  <a:tcPr marL="114300" marR="114300" marT="95250" marB="95250" anchor="ctr">
                    <a:solidFill>
                      <a:srgbClr val="F2F5F8"/>
                    </a:solidFill>
                  </a:tcPr>
                </a:tc>
                <a:tc>
                  <a:txBody>
                    <a:bodyPr/>
                    <a:lstStyle/>
                    <a:p>
                      <a:r>
                        <a:rPr sz="1725" b="0">
                          <a:solidFill>
                            <a:srgbClr val="182B3A"/>
                          </a:solidFill>
                          <a:latin typeface="Arial"/>
                          <a:ea typeface="Arial"/>
                          <a:cs typeface="Arial"/>
                        </a:rPr>
                        <a:t>Snapshot-grounded explanations</a:t>
                      </a:r>
                    </a:p>
                  </a:txBody>
                  <a:tcPr marL="114300" marR="114300" marT="95250" marB="95250" anchor="ctr">
                    <a:solidFill>
                      <a:srgbClr val="F2F5F8"/>
                    </a:solidFill>
                  </a:tcPr>
                </a:tc>
              </a:tr>
              <a:tr h="682625">
                <a:tc>
                  <a:txBody>
                    <a:bodyPr/>
                    <a:lstStyle/>
                    <a:p>
                      <a:r>
                        <a:rPr sz="1725" b="0">
                          <a:solidFill>
                            <a:srgbClr val="182B3A"/>
                          </a:solidFill>
                          <a:latin typeface="Arial"/>
                          <a:ea typeface="Arial"/>
                          <a:cs typeface="Arial"/>
                        </a:rPr>
                        <a:t>FastAPI with Telegram</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HTTPS Bot API</a:t>
                      </a:r>
                    </a:p>
                  </a:txBody>
                  <a:tcPr marL="114300" marR="114300" marT="95250" marB="95250" anchor="ctr">
                    <a:solidFill>
                      <a:srgbClr val="FFFFFF"/>
                    </a:solidFill>
                  </a:tcPr>
                </a:tc>
                <a:tc>
                  <a:txBody>
                    <a:bodyPr/>
                    <a:lstStyle/>
                    <a:p>
                      <a:r>
                        <a:rPr sz="1725" b="0">
                          <a:solidFill>
                            <a:srgbClr val="182B3A"/>
                          </a:solidFill>
                          <a:latin typeface="Arial"/>
                          <a:ea typeface="Arial"/>
                          <a:cs typeface="Arial"/>
                        </a:rPr>
                        <a:t>Message delivery</a:t>
                      </a:r>
                    </a:p>
                  </a:txBody>
                  <a:tcPr marL="114300" marR="11430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003D4A5-32F8-4677-8950-7451E035F790}"/>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7"/>
                </a:solidFill>
                <a:latin typeface="Arial"/>
                <a:ea typeface="Arial"/>
                <a:cs typeface="Arial"/>
              </a:defRPr>
            </a:defPPr>
          </a:lstStyle>
          <a:p xmlns:a="http://schemas.openxmlformats.org/drawingml/2006/main">
            <a:pPr algn="l">
              <a:defRPr sz="1875" b="0">
                <a:solidFill>
                  <a:srgbClr val="526677"/>
                </a:solidFill>
                <a:latin typeface="Arial"/>
                <a:ea typeface="Arial"/>
                <a:cs typeface="Arial"/>
              </a:defRPr>
            </a:pPr>
            <a:r>
              <a:rPr sz="1875" b="0">
                <a:solidFill>
                  <a:srgbClr val="526677"/>
                </a:solidFill>
                <a:latin typeface="Arial"/>
                <a:ea typeface="Arial"/>
                <a:cs typeface="Arial"/>
              </a:rPr>
              <a:t>The standalone WebSocket example does not replace this production path.</a:t>
            </a:r>
          </a:p>
        </p:txBody>
      </p:sp>
    </p:spTree>
    <p:extLst>
      <p:ext uri="{BB962C8B-B14F-4D97-AF65-F5344CB8AC3E}">
        <p14:creationId xmlns:p14="http://schemas.microsoft.com/office/powerpoint/2010/main" val="1688008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6DECC6-8B9C-4F9E-A951-8B6993AD44A4}"/>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Object oriented Python design</a:t>
            </a:r>
          </a:p>
        </p:txBody>
      </p:sp>
      <p:sp>
        <p:nvSpPr>
          <p:cNvPr id="2" name="">
            <a:extLst xmlns:a="http://schemas.openxmlformats.org/drawingml/2006/main">
              <a:ext uri="{FF2B5EF4-FFF2-40B4-BE49-F238E27FC236}">
                <a16:creationId xmlns:a16="http://schemas.microsoft.com/office/drawing/2014/main" id="{18EE4195-B941-4C89-AECE-CFFD494259B3}"/>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C662297D-A1C0-4E64-9D4B-E3F62FFE05C3}"/>
              </a:ext>
            </a:extLst>
          </p:cNvPr>
          <p:cNvGraphicFramePr/>
          <p:nvPr/>
        </p:nvGraphicFramePr>
        <p:xfrm>
          <a:off xmlns:a="http://schemas.openxmlformats.org/drawingml/2006/main" x="685800" y="1409700"/>
          <a:ext xmlns:a="http://schemas.openxmlformats.org/drawingml/2006/main" cx="10820400" cy="3905250"/>
        </p:xfrm>
        <a:graphic xmlns:a="http://schemas.openxmlformats.org/drawingml/2006/main">
          <a:graphicData uri="http://schemas.openxmlformats.org/drawingml/2006/table">
            <a:tbl>
              <a:tblPr/>
              <a:tblGrid>
                <a:gridCol w="3810000"/>
                <a:gridCol w="7010400"/>
              </a:tblGrid>
              <a:tr h="650875">
                <a:tc>
                  <a:txBody>
                    <a:bodyPr/>
                    <a:lstStyle/>
                    <a:p>
                      <a:r>
                        <a:rPr sz="1950" b="1">
                          <a:solidFill>
                            <a:srgbClr val="FFFFFF"/>
                          </a:solidFill>
                          <a:latin typeface="Arial"/>
                          <a:ea typeface="Arial"/>
                          <a:cs typeface="Arial"/>
                        </a:rPr>
                        <a:t>Class</a:t>
                      </a:r>
                    </a:p>
                  </a:txBody>
                  <a:tcPr marL="114300" marR="114300" marT="95250" marB="95250" anchor="ctr">
                    <a:solidFill>
                      <a:srgbClr val="17344D"/>
                    </a:solidFill>
                  </a:tcPr>
                </a:tc>
                <a:tc>
                  <a:txBody>
                    <a:bodyPr/>
                    <a:lstStyle/>
                    <a:p>
                      <a:r>
                        <a:rPr sz="1950" b="1">
                          <a:solidFill>
                            <a:srgbClr val="FFFFFF"/>
                          </a:solidFill>
                          <a:latin typeface="Arial"/>
                          <a:ea typeface="Arial"/>
                          <a:cs typeface="Arial"/>
                        </a:rPr>
                        <a:t>Encapsulated responsibility</a:t>
                      </a:r>
                    </a:p>
                  </a:txBody>
                  <a:tcPr marL="114300" marR="114300" marT="95250" marB="95250" anchor="ctr">
                    <a:solidFill>
                      <a:srgbClr val="17344D"/>
                    </a:solidFill>
                  </a:tcPr>
                </a:tc>
              </a:tr>
              <a:tr h="650875">
                <a:tc>
                  <a:txBody>
                    <a:bodyPr/>
                    <a:lstStyle/>
                    <a:p>
                      <a:r>
                        <a:rPr sz="1950" b="0">
                          <a:solidFill>
                            <a:srgbClr val="182B3A"/>
                          </a:solidFill>
                          <a:latin typeface="Arial"/>
                          <a:ea typeface="Arial"/>
                          <a:cs typeface="Arial"/>
                        </a:rPr>
                        <a:t>BinanceClient</a:t>
                      </a:r>
                    </a:p>
                  </a:txBody>
                  <a:tcPr marL="114300" marR="114300" marT="95250" marB="95250" anchor="ctr">
                    <a:solidFill>
                      <a:srgbClr val="FFFFFF"/>
                    </a:solidFill>
                  </a:tcPr>
                </a:tc>
                <a:tc>
                  <a:txBody>
                    <a:bodyPr/>
                    <a:lstStyle/>
                    <a:p>
                      <a:r>
                        <a:rPr sz="1950" b="0">
                          <a:solidFill>
                            <a:srgbClr val="182B3A"/>
                          </a:solidFill>
                          <a:latin typeface="Arial"/>
                          <a:ea typeface="Arial"/>
                          <a:cs typeface="Arial"/>
                        </a:rPr>
                        <a:t>Retrieve and parse market data</a:t>
                      </a:r>
                    </a:p>
                  </a:txBody>
                  <a:tcPr marL="114300" marR="114300" marT="95250" marB="95250" anchor="ctr">
                    <a:solidFill>
                      <a:srgbClr val="FFFFFF"/>
                    </a:solidFill>
                  </a:tcPr>
                </a:tc>
              </a:tr>
              <a:tr h="650875">
                <a:tc>
                  <a:txBody>
                    <a:bodyPr/>
                    <a:lstStyle/>
                    <a:p>
                      <a:r>
                        <a:rPr sz="1950" b="0">
                          <a:solidFill>
                            <a:srgbClr val="182B3A"/>
                          </a:solidFill>
                          <a:latin typeface="Arial"/>
                          <a:ea typeface="Arial"/>
                          <a:cs typeface="Arial"/>
                        </a:rPr>
                        <a:t>MarketDataService</a:t>
                      </a:r>
                    </a:p>
                  </a:txBody>
                  <a:tcPr marL="114300" marR="114300" marT="95250" marB="95250" anchor="ctr">
                    <a:solidFill>
                      <a:srgbClr val="F2F5F8"/>
                    </a:solidFill>
                  </a:tcPr>
                </a:tc>
                <a:tc>
                  <a:txBody>
                    <a:bodyPr/>
                    <a:lstStyle/>
                    <a:p>
                      <a:r>
                        <a:rPr sz="1950" b="0">
                          <a:solidFill>
                            <a:srgbClr val="182B3A"/>
                          </a:solidFill>
                          <a:latin typeface="Arial"/>
                          <a:ea typeface="Arial"/>
                          <a:cs typeface="Arial"/>
                        </a:rPr>
                        <a:t>Coordinate cache, upstream reads and refresh locking</a:t>
                      </a:r>
                    </a:p>
                  </a:txBody>
                  <a:tcPr marL="114300" marR="114300" marT="95250" marB="95250" anchor="ctr">
                    <a:solidFill>
                      <a:srgbClr val="F2F5F8"/>
                    </a:solidFill>
                  </a:tcPr>
                </a:tc>
              </a:tr>
              <a:tr h="650875">
                <a:tc>
                  <a:txBody>
                    <a:bodyPr/>
                    <a:lstStyle/>
                    <a:p>
                      <a:r>
                        <a:rPr sz="1950" b="0">
                          <a:solidFill>
                            <a:srgbClr val="182B3A"/>
                          </a:solidFill>
                          <a:latin typeface="Arial"/>
                          <a:ea typeface="Arial"/>
                          <a:cs typeface="Arial"/>
                        </a:rPr>
                        <a:t>RuleStorage</a:t>
                      </a:r>
                    </a:p>
                  </a:txBody>
                  <a:tcPr marL="114300" marR="114300" marT="95250" marB="95250" anchor="ctr">
                    <a:solidFill>
                      <a:srgbClr val="FFFFFF"/>
                    </a:solidFill>
                  </a:tcPr>
                </a:tc>
                <a:tc>
                  <a:txBody>
                    <a:bodyPr/>
                    <a:lstStyle/>
                    <a:p>
                      <a:r>
                        <a:rPr sz="1950" b="0">
                          <a:solidFill>
                            <a:srgbClr val="182B3A"/>
                          </a:solidFill>
                          <a:latin typeface="Arial"/>
                          <a:ea typeface="Arial"/>
                          <a:cs typeface="Arial"/>
                        </a:rPr>
                        <a:t>Persist rule CRUD in Redis</a:t>
                      </a:r>
                    </a:p>
                  </a:txBody>
                  <a:tcPr marL="114300" marR="114300" marT="95250" marB="95250" anchor="ctr">
                    <a:solidFill>
                      <a:srgbClr val="FFFFFF"/>
                    </a:solidFill>
                  </a:tcPr>
                </a:tc>
              </a:tr>
              <a:tr h="650875">
                <a:tc>
                  <a:txBody>
                    <a:bodyPr/>
                    <a:lstStyle/>
                    <a:p>
                      <a:r>
                        <a:rPr sz="1950" b="0">
                          <a:solidFill>
                            <a:srgbClr val="182B3A"/>
                          </a:solidFill>
                          <a:latin typeface="Arial"/>
                          <a:ea typeface="Arial"/>
                          <a:cs typeface="Arial"/>
                        </a:rPr>
                        <a:t>TelegramScheduler</a:t>
                      </a:r>
                    </a:p>
                  </a:txBody>
                  <a:tcPr marL="114300" marR="114300" marT="95250" marB="95250" anchor="ctr">
                    <a:solidFill>
                      <a:srgbClr val="F2F5F8"/>
                    </a:solidFill>
                  </a:tcPr>
                </a:tc>
                <a:tc>
                  <a:txBody>
                    <a:bodyPr/>
                    <a:lstStyle/>
                    <a:p>
                      <a:r>
                        <a:rPr sz="1950" b="0">
                          <a:solidFill>
                            <a:srgbClr val="182B3A"/>
                          </a:solidFill>
                          <a:latin typeface="Arial"/>
                          <a:ea typeface="Arial"/>
                          <a:cs typeface="Arial"/>
                        </a:rPr>
                        <a:t>Observe conditions and coordinate delivery</a:t>
                      </a:r>
                    </a:p>
                  </a:txBody>
                  <a:tcPr marL="114300" marR="114300" marT="95250" marB="95250" anchor="ctr">
                    <a:solidFill>
                      <a:srgbClr val="F2F5F8"/>
                    </a:solidFill>
                  </a:tcPr>
                </a:tc>
              </a:tr>
              <a:tr h="650875">
                <a:tc>
                  <a:txBody>
                    <a:bodyPr/>
                    <a:lstStyle/>
                    <a:p>
                      <a:r>
                        <a:rPr sz="1950" b="0">
                          <a:solidFill>
                            <a:srgbClr val="182B3A"/>
                          </a:solidFill>
                          <a:latin typeface="Arial"/>
                          <a:ea typeface="Arial"/>
                          <a:cs typeface="Arial"/>
                        </a:rPr>
                        <a:t>TradingAssistant</a:t>
                      </a:r>
                    </a:p>
                  </a:txBody>
                  <a:tcPr marL="114300" marR="114300" marT="95250" marB="95250" anchor="ctr">
                    <a:solidFill>
                      <a:srgbClr val="FFFFFF"/>
                    </a:solidFill>
                  </a:tcPr>
                </a:tc>
                <a:tc>
                  <a:txBody>
                    <a:bodyPr/>
                    <a:lstStyle/>
                    <a:p>
                      <a:r>
                        <a:rPr sz="1950" b="0">
                          <a:solidFill>
                            <a:srgbClr val="182B3A"/>
                          </a:solidFill>
                          <a:latin typeface="Arial"/>
                          <a:ea typeface="Arial"/>
                          <a:cs typeface="Arial"/>
                        </a:rPr>
                        <a:t>Build grounded AI context and handle generation</a:t>
                      </a:r>
                    </a:p>
                  </a:txBody>
                  <a:tcPr marL="114300" marR="11430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BD717AF-D27D-49B3-9806-F114E4A032AF}"/>
              </a:ext>
            </a:extLst>
          </p:cNvPr>
          <p:cNvSpPr>
            <a:spLocks xmlns:a="http://schemas.openxmlformats.org/drawingml/2006/main" noGrp="1"/>
          </p:cNvSpPr>
          <p:nvPr/>
        </p:nvSpPr>
        <p:spPr>
          <a:xfrm xmlns:a="http://schemas.openxmlformats.org/drawingml/2006/main">
            <a:off x="685800" y="5524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87F72"/>
                </a:solidFill>
                <a:latin typeface="Arial"/>
                <a:ea typeface="Arial"/>
                <a:cs typeface="Arial"/>
              </a:defRPr>
            </a:defPPr>
          </a:lstStyle>
          <a:p xmlns:a="http://schemas.openxmlformats.org/drawingml/2006/main">
            <a:pPr algn="l">
              <a:defRPr sz="2100" b="0">
                <a:solidFill>
                  <a:srgbClr val="087F72"/>
                </a:solidFill>
                <a:latin typeface="Arial"/>
                <a:ea typeface="Arial"/>
                <a:cs typeface="Arial"/>
              </a:defRPr>
            </a:pPr>
            <a:r>
              <a:rPr sz="2100" b="0">
                <a:solidFill>
                  <a:srgbClr val="087F72"/>
                </a:solidFill>
                <a:latin typeface="Arial"/>
                <a:ea typeface="Arial"/>
                <a:cs typeface="Arial"/>
              </a:rPr>
              <a:t>Composition and explicit dependencies allow fake clients in offline tests.</a:t>
            </a:r>
          </a:p>
        </p:txBody>
      </p:sp>
    </p:spTree>
    <p:extLst>
      <p:ext uri="{BB962C8B-B14F-4D97-AF65-F5344CB8AC3E}">
        <p14:creationId xmlns:p14="http://schemas.microsoft.com/office/powerpoint/2010/main" val="15997080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C0B860-A48C-4996-831A-C766AE8BA6AB}"/>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Core code for cache coordination</a:t>
            </a:r>
          </a:p>
        </p:txBody>
      </p:sp>
      <p:sp>
        <p:nvSpPr>
          <p:cNvPr id="2" name="">
            <a:extLst xmlns:a="http://schemas.openxmlformats.org/drawingml/2006/main">
              <a:ext uri="{FF2B5EF4-FFF2-40B4-BE49-F238E27FC236}">
                <a16:creationId xmlns:a16="http://schemas.microsoft.com/office/drawing/2014/main" id="{5BF16D25-8237-40F9-8A3A-23DC3D21C55C}"/>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22C3EB77-761C-45BB-9FF6-8FECCD4EFE39}"/>
              </a:ext>
            </a:extLst>
          </p:cNvPr>
          <p:cNvSpPr>
            <a:spLocks xmlns:a="http://schemas.openxmlformats.org/drawingml/2006/main" noGrp="1"/>
          </p:cNvSpPr>
          <p:nvPr/>
        </p:nvSpPr>
        <p:spPr>
          <a:xfrm xmlns:a="http://schemas.openxmlformats.org/drawingml/2006/main">
            <a:off x="685800" y="1381125"/>
            <a:ext cx="108204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2B3A"/>
                </a:solidFill>
                <a:latin typeface="Courier New"/>
                <a:ea typeface="Courier New"/>
                <a:cs typeface="Courier New"/>
              </a:defRPr>
            </a:defPPr>
          </a:lstStyle>
          <a:p xmlns:a="http://schemas.openxmlformats.org/drawingml/2006/main">
            <a:pPr algn="l">
              <a:defRPr sz="1800" b="0">
                <a:solidFill>
                  <a:srgbClr val="182B3A"/>
                </a:solidFill>
                <a:latin typeface="Courier New"/>
                <a:ea typeface="Courier New"/>
                <a:cs typeface="Courier New"/>
              </a:defRPr>
            </a:pPr>
            <a:r>
              <a:rPr sz="1800" b="0">
                <a:solidFill>
                  <a:srgbClr val="182B3A"/>
                </a:solidFill>
                <a:latin typeface="Courier New"/>
                <a:ea typeface="Courier New"/>
                <a:cs typeface="Courier New"/>
              </a:rPr>
              <a:t>async def _load(self, key, model, ttl, fetch):</a:t>
            </a:r>
          </a:p>
          <a:p xmlns:a="http://schemas.openxmlformats.org/drawingml/2006/main">
            <a:pPr algn="l">
              <a:defRPr sz="1800" b="0">
                <a:solidFill>
                  <a:srgbClr val="182B3A"/>
                </a:solidFill>
                <a:latin typeface="Courier New"/>
                <a:ea typeface="Courier New"/>
                <a:cs typeface="Courier New"/>
              </a:defRPr>
            </a:pPr>
            <a:r>
              <a:rPr sz="1800" b="0">
                <a:solidFill>
                  <a:srgbClr val="182B3A"/>
                </a:solidFill>
                <a:latin typeface="Courier New"/>
                <a:ea typeface="Courier New"/>
                <a:cs typeface="Courier New"/>
              </a:rPr>
              <a:t>    cached = await self._cached(key, model)</a:t>
            </a:r>
          </a:p>
          <a:p xmlns:a="http://schemas.openxmlformats.org/drawingml/2006/main">
            <a:pPr algn="l">
              <a:defRPr sz="1800" b="0">
                <a:solidFill>
                  <a:srgbClr val="182B3A"/>
                </a:solidFill>
                <a:latin typeface="Courier New"/>
                <a:ea typeface="Courier New"/>
                <a:cs typeface="Courier New"/>
              </a:defRPr>
            </a:pPr>
            <a:r>
              <a:rPr sz="1800" b="0">
                <a:solidFill>
                  <a:srgbClr val="182B3A"/>
                </a:solidFill>
                <a:latin typeface="Courier New"/>
                <a:ea typeface="Courier New"/>
                <a:cs typeface="Courier New"/>
              </a:rPr>
              <a:t>    if cached is not None:</a:t>
            </a:r>
          </a:p>
          <a:p xmlns:a="http://schemas.openxmlformats.org/drawingml/2006/main">
            <a:pPr algn="l">
              <a:defRPr sz="1800" b="0">
                <a:solidFill>
                  <a:srgbClr val="182B3A"/>
                </a:solidFill>
                <a:latin typeface="Courier New"/>
                <a:ea typeface="Courier New"/>
                <a:cs typeface="Courier New"/>
              </a:defRPr>
            </a:pPr>
            <a:r>
              <a:rPr sz="1800" b="0">
                <a:solidFill>
                  <a:srgbClr val="182B3A"/>
                </a:solidFill>
                <a:latin typeface="Courier New"/>
                <a:ea typeface="Courier New"/>
                <a:cs typeface="Courier New"/>
              </a:rPr>
              <a:t>        return cached.model_copy(update={"source": "cache"})</a:t>
            </a:r>
          </a:p>
          <a:p xmlns:a="http://schemas.openxmlformats.org/drawingml/2006/main">
            <a:pPr algn="l">
              <a:defRPr sz="1800" b="0">
                <a:solidFill>
                  <a:srgbClr val="182B3A"/>
                </a:solidFill>
                <a:latin typeface="Courier New"/>
                <a:ea typeface="Courier New"/>
                <a:cs typeface="Courier New"/>
              </a:defRPr>
            </a:pPr>
            <a:r>
              <a:rPr sz="1800" b="0">
                <a:solidFill>
                  <a:srgbClr val="182B3A"/>
                </a:solidFill>
                <a:latin typeface="Courier New"/>
                <a:ea typeface="Courier New"/>
                <a:cs typeface="Courier New"/>
              </a:rPr>
              <a:t>    async with self.refresh_lock:</a:t>
            </a:r>
          </a:p>
          <a:p xmlns:a="http://schemas.openxmlformats.org/drawingml/2006/main">
            <a:pPr algn="l">
              <a:defRPr sz="1800" b="0">
                <a:solidFill>
                  <a:srgbClr val="182B3A"/>
                </a:solidFill>
                <a:latin typeface="Courier New"/>
                <a:ea typeface="Courier New"/>
                <a:cs typeface="Courier New"/>
              </a:defRPr>
            </a:pPr>
            <a:r>
              <a:rPr sz="1800" b="0">
                <a:solidFill>
                  <a:srgbClr val="182B3A"/>
                </a:solidFill>
                <a:latin typeface="Courier New"/>
                <a:ea typeface="Courier New"/>
                <a:cs typeface="Courier New"/>
              </a:rPr>
              <a:t>        cached = await self._cached(key, model)</a:t>
            </a:r>
          </a:p>
          <a:p xmlns:a="http://schemas.openxmlformats.org/drawingml/2006/main">
            <a:pPr algn="l">
              <a:defRPr sz="1800" b="0">
                <a:solidFill>
                  <a:srgbClr val="182B3A"/>
                </a:solidFill>
                <a:latin typeface="Courier New"/>
                <a:ea typeface="Courier New"/>
                <a:cs typeface="Courier New"/>
              </a:defRPr>
            </a:pPr>
            <a:r>
              <a:rPr sz="1800" b="0">
                <a:solidFill>
                  <a:srgbClr val="182B3A"/>
                </a:solidFill>
                <a:latin typeface="Courier New"/>
                <a:ea typeface="Courier New"/>
                <a:cs typeface="Courier New"/>
              </a:rPr>
              <a:t>        if cached is not None:</a:t>
            </a:r>
          </a:p>
          <a:p xmlns:a="http://schemas.openxmlformats.org/drawingml/2006/main">
            <a:pPr algn="l">
              <a:defRPr sz="1800" b="0">
                <a:solidFill>
                  <a:srgbClr val="182B3A"/>
                </a:solidFill>
                <a:latin typeface="Courier New"/>
                <a:ea typeface="Courier New"/>
                <a:cs typeface="Courier New"/>
              </a:defRPr>
            </a:pPr>
            <a:r>
              <a:rPr sz="1800" b="0">
                <a:solidFill>
                  <a:srgbClr val="182B3A"/>
                </a:solidFill>
                <a:latin typeface="Courier New"/>
                <a:ea typeface="Courier New"/>
                <a:cs typeface="Courier New"/>
              </a:rPr>
              <a:t>            return cached.model_copy(update={"source": "cache"})</a:t>
            </a:r>
          </a:p>
        </p:txBody>
      </p:sp>
      <p:sp>
        <p:nvSpPr>
          <p:cNvPr id="4" name="">
            <a:extLst xmlns:a="http://schemas.openxmlformats.org/drawingml/2006/main">
              <a:ext uri="{FF2B5EF4-FFF2-40B4-BE49-F238E27FC236}">
                <a16:creationId xmlns:a16="http://schemas.microsoft.com/office/drawing/2014/main" id="{A1B791C1-38BD-4E34-B15B-148AEBAAB9D4}"/>
              </a:ext>
            </a:extLst>
          </p:cNvPr>
          <p:cNvSpPr>
            <a:spLocks xmlns:a="http://schemas.openxmlformats.org/drawingml/2006/main" noGrp="1"/>
          </p:cNvSpPr>
          <p:nvPr/>
        </p:nvSpPr>
        <p:spPr>
          <a:xfrm xmlns:a="http://schemas.openxmlformats.org/drawingml/2006/main">
            <a:off x="685800" y="48768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3A"/>
                </a:solidFill>
                <a:latin typeface="Arial"/>
                <a:ea typeface="Arial"/>
                <a:cs typeface="Arial"/>
              </a:defRPr>
            </a:defPPr>
          </a:lstStyle>
          <a:p xmlns:a="http://schemas.openxmlformats.org/drawingml/2006/main">
            <a:pPr algn="l">
              <a:defRPr sz="2325" b="0">
                <a:solidFill>
                  <a:srgbClr val="182B3A"/>
                </a:solidFill>
                <a:latin typeface="Arial"/>
                <a:ea typeface="Arial"/>
                <a:cs typeface="Arial"/>
              </a:defRPr>
            </a:pPr>
            <a:r>
              <a:rPr sz="2325" b="0">
                <a:solidFill>
                  <a:srgbClr val="182B3A"/>
                </a:solidFill>
                <a:latin typeface="Arial"/>
                <a:ea typeface="Arial"/>
                <a:cs typeface="Arial"/>
              </a:rPr>
              <a:t>A cache miss waits on the refresh lock and checks Redis again before fetching.</a:t>
            </a:r>
          </a:p>
        </p:txBody>
      </p:sp>
      <p:sp>
        <p:nvSpPr>
          <p:cNvPr id="5" name="">
            <a:extLst xmlns:a="http://schemas.openxmlformats.org/drawingml/2006/main">
              <a:ext uri="{FF2B5EF4-FFF2-40B4-BE49-F238E27FC236}">
                <a16:creationId xmlns:a16="http://schemas.microsoft.com/office/drawing/2014/main" id="{09B5575D-3AFE-43DC-AE2D-025E5BC82085}"/>
              </a:ext>
            </a:extLst>
          </p:cNvPr>
          <p:cNvSpPr>
            <a:spLocks xmlns:a="http://schemas.openxmlformats.org/drawingml/2006/main" noGrp="1"/>
          </p:cNvSpPr>
          <p:nvPr/>
        </p:nvSpPr>
        <p:spPr>
          <a:xfrm xmlns:a="http://schemas.openxmlformats.org/drawingml/2006/main">
            <a:off x="685800" y="57150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7"/>
                </a:solidFill>
                <a:latin typeface="Arial"/>
                <a:ea typeface="Arial"/>
                <a:cs typeface="Arial"/>
              </a:defRPr>
            </a:defPPr>
          </a:lstStyle>
          <a:p xmlns:a="http://schemas.openxmlformats.org/drawingml/2006/main">
            <a:pPr algn="l">
              <a:defRPr sz="1875" b="0">
                <a:solidFill>
                  <a:srgbClr val="526677"/>
                </a:solidFill>
                <a:latin typeface="Arial"/>
                <a:ea typeface="Arial"/>
                <a:cs typeface="Arial"/>
              </a:defRPr>
            </a:pPr>
            <a:r>
              <a:rPr sz="1875" b="0">
                <a:solidFill>
                  <a:srgbClr val="526677"/>
                </a:solidFill>
                <a:latin typeface="Arial"/>
                <a:ea typeface="Arial"/>
                <a:cs typeface="Arial"/>
              </a:rPr>
              <a:t>The lock is process-local. Redis TTL marks freshness rather than scheduling updates.</a:t>
            </a:r>
          </a:p>
        </p:txBody>
      </p:sp>
    </p:spTree>
    <p:extLst>
      <p:ext uri="{BB962C8B-B14F-4D97-AF65-F5344CB8AC3E}">
        <p14:creationId xmlns:p14="http://schemas.microsoft.com/office/powerpoint/2010/main" val="3263566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35E039-C591-4825-AFF9-2C93C854FF3C}"/>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Core code for technical indicators</a:t>
            </a:r>
          </a:p>
        </p:txBody>
      </p:sp>
      <p:sp>
        <p:nvSpPr>
          <p:cNvPr id="2" name="">
            <a:extLst xmlns:a="http://schemas.openxmlformats.org/drawingml/2006/main">
              <a:ext uri="{FF2B5EF4-FFF2-40B4-BE49-F238E27FC236}">
                <a16:creationId xmlns:a16="http://schemas.microsoft.com/office/drawing/2014/main" id="{2EF2FF18-B886-4B2C-8033-C47AC8B932DF}"/>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6E77FD18-7EB1-4361-9F3A-6363B8E0A8CC}"/>
              </a:ext>
            </a:extLst>
          </p:cNvPr>
          <p:cNvSpPr>
            <a:spLocks xmlns:a="http://schemas.openxmlformats.org/drawingml/2006/main" noGrp="1"/>
          </p:cNvSpPr>
          <p:nvPr/>
        </p:nvSpPr>
        <p:spPr>
          <a:xfrm xmlns:a="http://schemas.openxmlformats.org/drawingml/2006/main">
            <a:off x="685800" y="1409700"/>
            <a:ext cx="108204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A"/>
                </a:solidFill>
                <a:latin typeface="Courier New"/>
                <a:ea typeface="Courier New"/>
                <a:cs typeface="Courier New"/>
              </a:defRPr>
            </a:defPPr>
          </a:lstStyle>
          <a:p xmlns:a="http://schemas.openxmlformats.org/drawingml/2006/main">
            <a:pPr algn="l">
              <a:defRPr sz="2100" b="0">
                <a:solidFill>
                  <a:srgbClr val="182B3A"/>
                </a:solidFill>
                <a:latin typeface="Courier New"/>
                <a:ea typeface="Courier New"/>
                <a:cs typeface="Courier New"/>
              </a:defRPr>
            </a:pPr>
            <a:r>
              <a:rPr sz="2100" b="0">
                <a:solidFill>
                  <a:srgbClr val="182B3A"/>
                </a:solidFill>
                <a:latin typeface="Courier New"/>
                <a:ea typeface="Courier New"/>
                <a:cs typeface="Courier New"/>
              </a:rPr>
              <a:t>if name == "sma":</a:t>
            </a:r>
          </a:p>
          <a:p xmlns:a="http://schemas.openxmlformats.org/drawingml/2006/main">
            <a:pPr algn="l">
              <a:defRPr sz="2100" b="0">
                <a:solidFill>
                  <a:srgbClr val="182B3A"/>
                </a:solidFill>
                <a:latin typeface="Courier New"/>
                <a:ea typeface="Courier New"/>
                <a:cs typeface="Courier New"/>
              </a:defRPr>
            </a:pPr>
            <a:r>
              <a:rPr sz="2100" b="0">
                <a:solidFill>
                  <a:srgbClr val="182B3A"/>
                </a:solidFill>
                <a:latin typeface="Courier New"/>
                <a:ea typeface="Courier New"/>
                <a:cs typeface="Courier New"/>
              </a:rPr>
              <a:t>    total = sum(prices[:period], Decimal(0))</a:t>
            </a:r>
          </a:p>
          <a:p xmlns:a="http://schemas.openxmlformats.org/drawingml/2006/main">
            <a:pPr algn="l">
              <a:defRPr sz="2100" b="0">
                <a:solidFill>
                  <a:srgbClr val="182B3A"/>
                </a:solidFill>
                <a:latin typeface="Courier New"/>
                <a:ea typeface="Courier New"/>
                <a:cs typeface="Courier New"/>
              </a:defRPr>
            </a:pPr>
            <a:r>
              <a:rPr sz="2100" b="0">
                <a:solidFill>
                  <a:srgbClr val="182B3A"/>
                </a:solidFill>
                <a:latin typeface="Courier New"/>
                <a:ea typeface="Courier New"/>
                <a:cs typeface="Courier New"/>
              </a:rPr>
              <a:t>    values[period - 1] = total / period</a:t>
            </a:r>
          </a:p>
          <a:p xmlns:a="http://schemas.openxmlformats.org/drawingml/2006/main">
            <a:pPr algn="l">
              <a:defRPr sz="2100" b="0">
                <a:solidFill>
                  <a:srgbClr val="182B3A"/>
                </a:solidFill>
                <a:latin typeface="Courier New"/>
                <a:ea typeface="Courier New"/>
                <a:cs typeface="Courier New"/>
              </a:defRPr>
            </a:pPr>
            <a:r>
              <a:rPr sz="2100" b="0">
                <a:solidFill>
                  <a:srgbClr val="182B3A"/>
                </a:solidFill>
                <a:latin typeface="Courier New"/>
                <a:ea typeface="Courier New"/>
                <a:cs typeface="Courier New"/>
              </a:rPr>
              <a:t>    for i in range(period, len(prices)):</a:t>
            </a:r>
          </a:p>
          <a:p xmlns:a="http://schemas.openxmlformats.org/drawingml/2006/main">
            <a:pPr algn="l">
              <a:defRPr sz="2100" b="0">
                <a:solidFill>
                  <a:srgbClr val="182B3A"/>
                </a:solidFill>
                <a:latin typeface="Courier New"/>
                <a:ea typeface="Courier New"/>
                <a:cs typeface="Courier New"/>
              </a:defRPr>
            </a:pPr>
            <a:r>
              <a:rPr sz="2100" b="0">
                <a:solidFill>
                  <a:srgbClr val="182B3A"/>
                </a:solidFill>
                <a:latin typeface="Courier New"/>
                <a:ea typeface="Courier New"/>
                <a:cs typeface="Courier New"/>
              </a:rPr>
              <a:t>        total += prices[i] - prices[i - period]</a:t>
            </a:r>
          </a:p>
          <a:p xmlns:a="http://schemas.openxmlformats.org/drawingml/2006/main">
            <a:pPr algn="l">
              <a:defRPr sz="2100" b="0">
                <a:solidFill>
                  <a:srgbClr val="182B3A"/>
                </a:solidFill>
                <a:latin typeface="Courier New"/>
                <a:ea typeface="Courier New"/>
                <a:cs typeface="Courier New"/>
              </a:defRPr>
            </a:pPr>
            <a:r>
              <a:rPr sz="2100" b="0">
                <a:solidFill>
                  <a:srgbClr val="182B3A"/>
                </a:solidFill>
                <a:latin typeface="Courier New"/>
                <a:ea typeface="Courier New"/>
                <a:cs typeface="Courier New"/>
              </a:rPr>
              <a:t>        values[i] = total / period</a:t>
            </a:r>
          </a:p>
        </p:txBody>
      </p:sp>
      <p:sp>
        <p:nvSpPr>
          <p:cNvPr id="4" name="">
            <a:extLst xmlns:a="http://schemas.openxmlformats.org/drawingml/2006/main">
              <a:ext uri="{FF2B5EF4-FFF2-40B4-BE49-F238E27FC236}">
                <a16:creationId xmlns:a16="http://schemas.microsoft.com/office/drawing/2014/main" id="{F9AB85C8-B457-428A-8D14-6FA4BCA1F213}"/>
              </a:ext>
            </a:extLst>
          </p:cNvPr>
          <p:cNvSpPr>
            <a:spLocks xmlns:a="http://schemas.openxmlformats.org/drawingml/2006/main" noGrp="1"/>
          </p:cNvSpPr>
          <p:nvPr/>
        </p:nvSpPr>
        <p:spPr>
          <a:xfrm xmlns:a="http://schemas.openxmlformats.org/drawingml/2006/main">
            <a:off x="685800" y="4000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A"/>
                </a:solidFill>
                <a:latin typeface="Arial"/>
                <a:ea typeface="Arial"/>
                <a:cs typeface="Arial"/>
              </a:defRPr>
            </a:defPPr>
          </a:lstStyle>
          <a:p xmlns:a="http://schemas.openxmlformats.org/drawingml/2006/main">
            <a:pPr algn="l">
              <a:defRPr sz="2100" b="0">
                <a:solidFill>
                  <a:srgbClr val="182B3A"/>
                </a:solidFill>
                <a:latin typeface="Arial"/>
                <a:ea typeface="Arial"/>
                <a:cs typeface="Arial"/>
              </a:defRPr>
            </a:pPr>
            <a:r>
              <a:rPr sz="2100" b="0">
                <a:solidFill>
                  <a:srgbClr val="182B3A"/>
                </a:solidFill>
                <a:latin typeface="Arial"/>
                <a:ea typeface="Arial"/>
                <a:cs typeface="Arial"/>
              </a:rPr>
              <a:t>Decimal arithmetic preserves the chosen calculation precision.</a:t>
            </a:r>
          </a:p>
        </p:txBody>
      </p:sp>
      <p:sp>
        <p:nvSpPr>
          <p:cNvPr id="5" name="">
            <a:extLst xmlns:a="http://schemas.openxmlformats.org/drawingml/2006/main">
              <a:ext uri="{FF2B5EF4-FFF2-40B4-BE49-F238E27FC236}">
                <a16:creationId xmlns:a16="http://schemas.microsoft.com/office/drawing/2014/main" id="{B7F5DAB4-343E-49B8-8B63-9C4BBA67345E}"/>
              </a:ext>
            </a:extLst>
          </p:cNvPr>
          <p:cNvSpPr>
            <a:spLocks xmlns:a="http://schemas.openxmlformats.org/drawingml/2006/main" noGrp="1"/>
          </p:cNvSpPr>
          <p:nvPr/>
        </p:nvSpPr>
        <p:spPr>
          <a:xfrm xmlns:a="http://schemas.openxmlformats.org/drawingml/2006/main">
            <a:off x="685800" y="4714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A"/>
                </a:solidFill>
                <a:latin typeface="Arial"/>
                <a:ea typeface="Arial"/>
                <a:cs typeface="Arial"/>
              </a:defRPr>
            </a:defPPr>
          </a:lstStyle>
          <a:p xmlns:a="http://schemas.openxmlformats.org/drawingml/2006/main">
            <a:pPr algn="l">
              <a:defRPr sz="2100" b="0">
                <a:solidFill>
                  <a:srgbClr val="182B3A"/>
                </a:solidFill>
                <a:latin typeface="Arial"/>
                <a:ea typeface="Arial"/>
                <a:cs typeface="Arial"/>
              </a:defRPr>
            </a:pPr>
            <a:r>
              <a:rPr sz="2100" b="0">
                <a:solidFill>
                  <a:srgbClr val="182B3A"/>
                </a:solidFill>
                <a:latin typeface="Arial"/>
                <a:ea typeface="Arial"/>
                <a:cs typeface="Arial"/>
              </a:rPr>
              <a:t>Warm-up gaps produce null values with insufficient_data status.</a:t>
            </a:r>
          </a:p>
        </p:txBody>
      </p:sp>
      <p:sp>
        <p:nvSpPr>
          <p:cNvPr id="6" name="">
            <a:extLst xmlns:a="http://schemas.openxmlformats.org/drawingml/2006/main">
              <a:ext uri="{FF2B5EF4-FFF2-40B4-BE49-F238E27FC236}">
                <a16:creationId xmlns:a16="http://schemas.microsoft.com/office/drawing/2014/main" id="{66098BA0-D6E8-4253-8914-D94083234B63}"/>
              </a:ext>
            </a:extLst>
          </p:cNvPr>
          <p:cNvSpPr>
            <a:spLocks xmlns:a="http://schemas.openxmlformats.org/drawingml/2006/main" noGrp="1"/>
          </p:cNvSpPr>
          <p:nvPr/>
        </p:nvSpPr>
        <p:spPr>
          <a:xfrm xmlns:a="http://schemas.openxmlformats.org/drawingml/2006/main">
            <a:off x="685800" y="54292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A"/>
                </a:solidFill>
                <a:latin typeface="Arial"/>
                <a:ea typeface="Arial"/>
                <a:cs typeface="Arial"/>
              </a:defRPr>
            </a:defPPr>
          </a:lstStyle>
          <a:p xmlns:a="http://schemas.openxmlformats.org/drawingml/2006/main">
            <a:pPr algn="l">
              <a:defRPr sz="2100" b="0">
                <a:solidFill>
                  <a:srgbClr val="182B3A"/>
                </a:solidFill>
                <a:latin typeface="Arial"/>
                <a:ea typeface="Arial"/>
                <a:cs typeface="Arial"/>
              </a:defRPr>
            </a:pPr>
            <a:r>
              <a:rPr sz="2100" b="0">
                <a:solidFill>
                  <a:srgbClr val="182B3A"/>
                </a:solidFill>
                <a:latin typeface="Arial"/>
                <a:ea typeface="Arial"/>
                <a:cs typeface="Arial"/>
              </a:rPr>
              <a:t>Tests cover reference values, rising prices, falling prices and flat prices.</a:t>
            </a:r>
          </a:p>
        </p:txBody>
      </p:sp>
    </p:spTree>
    <p:extLst>
      <p:ext uri="{BB962C8B-B14F-4D97-AF65-F5344CB8AC3E}">
        <p14:creationId xmlns:p14="http://schemas.microsoft.com/office/powerpoint/2010/main" val="17902331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90ABA2-C8FC-4ED7-988E-F85049DDD6B6}"/>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Telegram rule lifecycle</a:t>
            </a:r>
          </a:p>
        </p:txBody>
      </p:sp>
      <p:sp>
        <p:nvSpPr>
          <p:cNvPr id="2" name="">
            <a:extLst xmlns:a="http://schemas.openxmlformats.org/drawingml/2006/main">
              <a:ext uri="{FF2B5EF4-FFF2-40B4-BE49-F238E27FC236}">
                <a16:creationId xmlns:a16="http://schemas.microsoft.com/office/drawing/2014/main" id="{2D51AEB6-29C9-4420-92D0-8B57F57C9612}"/>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0C26D45D-2264-48EF-BFE8-E8D82C4CA1E5}"/>
              </a:ext>
            </a:extLst>
          </p:cNvPr>
          <p:cNvGraphicFramePr/>
          <p:nvPr/>
        </p:nvGraphicFramePr>
        <p:xfrm>
          <a:off xmlns:a="http://schemas.openxmlformats.org/drawingml/2006/main" x="685800" y="1409700"/>
          <a:ext xmlns:a="http://schemas.openxmlformats.org/drawingml/2006/main" cx="10820400" cy="3857625"/>
        </p:xfrm>
        <a:graphic xmlns:a="http://schemas.openxmlformats.org/drawingml/2006/main">
          <a:graphicData uri="http://schemas.openxmlformats.org/drawingml/2006/table">
            <a:tbl>
              <a:tblPr/>
              <a:tblGrid>
                <a:gridCol w="2381250"/>
                <a:gridCol w="8439150"/>
              </a:tblGrid>
              <a:tr h="771525">
                <a:tc>
                  <a:txBody>
                    <a:bodyPr/>
                    <a:lstStyle/>
                    <a:p>
                      <a:r>
                        <a:rPr sz="2025" b="1">
                          <a:solidFill>
                            <a:srgbClr val="FFFFFF"/>
                          </a:solidFill>
                          <a:latin typeface="Arial"/>
                          <a:ea typeface="Arial"/>
                          <a:cs typeface="Arial"/>
                        </a:rPr>
                        <a:t>Stage</a:t>
                      </a:r>
                    </a:p>
                  </a:txBody>
                  <a:tcPr marL="114300" marR="114300" marT="95250" marB="95250" anchor="ctr">
                    <a:solidFill>
                      <a:srgbClr val="17344D"/>
                    </a:solidFill>
                  </a:tcPr>
                </a:tc>
                <a:tc>
                  <a:txBody>
                    <a:bodyPr/>
                    <a:lstStyle/>
                    <a:p>
                      <a:r>
                        <a:rPr sz="2025" b="1">
                          <a:solidFill>
                            <a:srgbClr val="FFFFFF"/>
                          </a:solidFill>
                          <a:latin typeface="Arial"/>
                          <a:ea typeface="Arial"/>
                          <a:cs typeface="Arial"/>
                        </a:rPr>
                        <a:t>Behavior</a:t>
                      </a:r>
                    </a:p>
                  </a:txBody>
                  <a:tcPr marL="114300" marR="114300" marT="95250" marB="95250" anchor="ctr">
                    <a:solidFill>
                      <a:srgbClr val="17344D"/>
                    </a:solidFill>
                  </a:tcPr>
                </a:tc>
              </a:tr>
              <a:tr h="771525">
                <a:tc>
                  <a:txBody>
                    <a:bodyPr/>
                    <a:lstStyle/>
                    <a:p>
                      <a:r>
                        <a:rPr sz="2025" b="0">
                          <a:solidFill>
                            <a:srgbClr val="182B3A"/>
                          </a:solidFill>
                          <a:latin typeface="Arial"/>
                          <a:ea typeface="Arial"/>
                          <a:cs typeface="Arial"/>
                        </a:rPr>
                        <a:t>Eligibility</a:t>
                      </a:r>
                    </a:p>
                  </a:txBody>
                  <a:tcPr marL="114300" marR="114300" marT="95250" marB="95250" anchor="ctr">
                    <a:solidFill>
                      <a:srgbClr val="FFFFFF"/>
                    </a:solidFill>
                  </a:tcPr>
                </a:tc>
                <a:tc>
                  <a:txBody>
                    <a:bodyPr/>
                    <a:lstStyle/>
                    <a:p>
                      <a:r>
                        <a:rPr sz="2025" b="0">
                          <a:solidFill>
                            <a:srgbClr val="182B3A"/>
                          </a:solidFill>
                          <a:latin typeface="Arial"/>
                          <a:ea typeface="Arial"/>
                          <a:cs typeface="Arial"/>
                        </a:rPr>
                        <a:t>Enabled SMA, EMA or RSI compared with a number on a closed candle</a:t>
                      </a:r>
                    </a:p>
                  </a:txBody>
                  <a:tcPr marL="114300" marR="114300" marT="95250" marB="95250" anchor="ctr">
                    <a:solidFill>
                      <a:srgbClr val="FFFFFF"/>
                    </a:solidFill>
                  </a:tcPr>
                </a:tc>
              </a:tr>
              <a:tr h="771525">
                <a:tc>
                  <a:txBody>
                    <a:bodyPr/>
                    <a:lstStyle/>
                    <a:p>
                      <a:r>
                        <a:rPr sz="2025" b="0">
                          <a:solidFill>
                            <a:srgbClr val="182B3A"/>
                          </a:solidFill>
                          <a:latin typeface="Arial"/>
                          <a:ea typeface="Arial"/>
                          <a:cs typeface="Arial"/>
                        </a:rPr>
                        <a:t>Observation</a:t>
                      </a:r>
                    </a:p>
                  </a:txBody>
                  <a:tcPr marL="114300" marR="114300" marT="95250" marB="95250" anchor="ctr">
                    <a:solidFill>
                      <a:srgbClr val="F2F5F8"/>
                    </a:solidFill>
                  </a:tcPr>
                </a:tc>
                <a:tc>
                  <a:txBody>
                    <a:bodyPr/>
                    <a:lstStyle/>
                    <a:p>
                      <a:r>
                        <a:rPr sz="2025" b="0">
                          <a:solidFill>
                            <a:srgbClr val="182B3A"/>
                          </a:solidFill>
                          <a:latin typeface="Arial"/>
                          <a:ea typeface="Arial"/>
                          <a:cs typeface="Arial"/>
                        </a:rPr>
                        <a:t>A true condition reserves an event and latches until a valid false observation</a:t>
                      </a:r>
                    </a:p>
                  </a:txBody>
                  <a:tcPr marL="114300" marR="114300" marT="95250" marB="95250" anchor="ctr">
                    <a:solidFill>
                      <a:srgbClr val="F2F5F8"/>
                    </a:solidFill>
                  </a:tcPr>
                </a:tc>
              </a:tr>
              <a:tr h="771525">
                <a:tc>
                  <a:txBody>
                    <a:bodyPr/>
                    <a:lstStyle/>
                    <a:p>
                      <a:r>
                        <a:rPr sz="2025" b="0">
                          <a:solidFill>
                            <a:srgbClr val="182B3A"/>
                          </a:solidFill>
                          <a:latin typeface="Arial"/>
                          <a:ea typeface="Arial"/>
                          <a:cs typeface="Arial"/>
                        </a:rPr>
                        <a:t>AI interpretation</a:t>
                      </a:r>
                    </a:p>
                  </a:txBody>
                  <a:tcPr marL="114300" marR="114300" marT="95250" marB="95250" anchor="ctr">
                    <a:solidFill>
                      <a:srgbClr val="FFFFFF"/>
                    </a:solidFill>
                  </a:tcPr>
                </a:tc>
                <a:tc>
                  <a:txBody>
                    <a:bodyPr/>
                    <a:lstStyle/>
                    <a:p>
                      <a:r>
                        <a:rPr sz="2025" b="0">
                          <a:solidFill>
                            <a:srgbClr val="182B3A"/>
                          </a:solidFill>
                          <a:latin typeface="Arial"/>
                          <a:ea typeface="Arial"/>
                          <a:cs typeface="Arial"/>
                        </a:rPr>
                        <a:t>The same verified snapshot supplies context; failures preserve the original alert</a:t>
                      </a:r>
                    </a:p>
                  </a:txBody>
                  <a:tcPr marL="114300" marR="114300" marT="95250" marB="95250" anchor="ctr">
                    <a:solidFill>
                      <a:srgbClr val="FFFFFF"/>
                    </a:solidFill>
                  </a:tcPr>
                </a:tc>
              </a:tr>
              <a:tr h="771525">
                <a:tc>
                  <a:txBody>
                    <a:bodyPr/>
                    <a:lstStyle/>
                    <a:p>
                      <a:r>
                        <a:rPr sz="2025" b="0">
                          <a:solidFill>
                            <a:srgbClr val="182B3A"/>
                          </a:solidFill>
                          <a:latin typeface="Arial"/>
                          <a:ea typeface="Arial"/>
                          <a:cs typeface="Arial"/>
                        </a:rPr>
                        <a:t>Delivery</a:t>
                      </a:r>
                    </a:p>
                  </a:txBody>
                  <a:tcPr marL="114300" marR="114300" marT="95250" marB="95250" anchor="ctr">
                    <a:solidFill>
                      <a:srgbClr val="F2F5F8"/>
                    </a:solidFill>
                  </a:tcPr>
                </a:tc>
                <a:tc>
                  <a:txBody>
                    <a:bodyPr/>
                    <a:lstStyle/>
                    <a:p>
                      <a:r>
                        <a:rPr sz="2025" b="0">
                          <a:solidFill>
                            <a:srgbClr val="182B3A"/>
                          </a:solidFill>
                          <a:latin typeface="Arial"/>
                          <a:ea typeface="Arial"/>
                          <a:cs typeface="Arial"/>
                        </a:rPr>
                        <a:t>Rule changes can cancel a send; outcomes distinguish accepted, failed and unknown</a:t>
                      </a:r>
                    </a:p>
                  </a:txBody>
                  <a:tcPr marL="114300" marR="114300" marT="95250" marB="95250" anchor="ctr">
                    <a:solidFill>
                      <a:srgbClr val="F2F5F8"/>
                    </a:solidFill>
                  </a:tcPr>
                </a:tc>
              </a:tr>
            </a:tbl>
          </a:graphicData>
        </a:graphic>
      </p:graphicFrame>
      <p:sp>
        <p:nvSpPr>
          <p:cNvPr id="4" name="">
            <a:extLst xmlns:a="http://schemas.openxmlformats.org/drawingml/2006/main">
              <a:ext uri="{FF2B5EF4-FFF2-40B4-BE49-F238E27FC236}">
                <a16:creationId xmlns:a16="http://schemas.microsoft.com/office/drawing/2014/main" id="{6ECF69C1-1390-4A32-9F79-640AE73BA389}"/>
              </a:ext>
            </a:extLst>
          </p:cNvPr>
          <p:cNvSpPr>
            <a:spLocks xmlns:a="http://schemas.openxmlformats.org/drawingml/2006/main" noGrp="1"/>
          </p:cNvSpPr>
          <p:nvPr/>
        </p:nvSpPr>
        <p:spPr>
          <a:xfrm xmlns:a="http://schemas.openxmlformats.org/drawingml/2006/main">
            <a:off x="685800" y="55816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87F72"/>
                </a:solidFill>
                <a:latin typeface="Arial"/>
                <a:ea typeface="Arial"/>
                <a:cs typeface="Arial"/>
              </a:defRPr>
            </a:defPPr>
          </a:lstStyle>
          <a:p xmlns:a="http://schemas.openxmlformats.org/drawingml/2006/main">
            <a:pPr algn="l">
              <a:defRPr sz="2100" b="0">
                <a:solidFill>
                  <a:srgbClr val="087F72"/>
                </a:solidFill>
                <a:latin typeface="Arial"/>
                <a:ea typeface="Arial"/>
                <a:cs typeface="Arial"/>
              </a:defRPr>
            </a:pPr>
            <a:r>
              <a:rPr sz="2100" b="0">
                <a:solidFill>
                  <a:srgbClr val="087F72"/>
                </a:solidFill>
                <a:latin typeface="Arial"/>
                <a:ea typeface="Arial"/>
                <a:cs typeface="Arial"/>
              </a:rPr>
              <a:t>Manual checks have confirmation, request deduplication and a cooldown.</a:t>
            </a:r>
          </a:p>
        </p:txBody>
      </p:sp>
    </p:spTree>
    <p:extLst>
      <p:ext uri="{BB962C8B-B14F-4D97-AF65-F5344CB8AC3E}">
        <p14:creationId xmlns:p14="http://schemas.microsoft.com/office/powerpoint/2010/main" val="2985563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6645CB-54D9-4728-80B0-BE394E7FAB3F}"/>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WebSocket reconnect prototype</a:t>
            </a:r>
          </a:p>
        </p:txBody>
      </p:sp>
      <p:sp>
        <p:nvSpPr>
          <p:cNvPr id="2" name="">
            <a:extLst xmlns:a="http://schemas.openxmlformats.org/drawingml/2006/main">
              <a:ext uri="{FF2B5EF4-FFF2-40B4-BE49-F238E27FC236}">
                <a16:creationId xmlns:a16="http://schemas.microsoft.com/office/drawing/2014/main" id="{5C3B3489-230A-4EE9-8E9D-6B568BCF8D66}"/>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470385D-1D96-4A0F-9B61-D2998FCDE90F}"/>
              </a:ext>
            </a:extLst>
          </p:cNvPr>
          <p:cNvSpPr>
            <a:spLocks xmlns:a="http://schemas.openxmlformats.org/drawingml/2006/main" noGrp="1"/>
          </p:cNvSpPr>
          <p:nvPr/>
        </p:nvSpPr>
        <p:spPr>
          <a:xfrm xmlns:a="http://schemas.openxmlformats.org/drawingml/2006/main">
            <a:off x="685800" y="1381125"/>
            <a:ext cx="108204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82B3A"/>
                </a:solidFill>
                <a:latin typeface="Courier New"/>
                <a:ea typeface="Courier New"/>
                <a:cs typeface="Courier New"/>
              </a:defRPr>
            </a:defPPr>
          </a:lstStyle>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remaining = deadline - self.clock()</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if remaining &lt;= 0:</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    rotate = True</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    break</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try:</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    # Timeout covers receiving, never the consumer's work after yield.</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    async with asyncio.timeout(remaining):</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        event = await anext(stream)</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except StopAsyncIteration:</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    break</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delay = self.retry_delay</a:t>
            </a:r>
          </a:p>
          <a:p xmlns:a="http://schemas.openxmlformats.org/drawingml/2006/main">
            <a:pPr algn="l">
              <a:defRPr sz="1725" b="0">
                <a:solidFill>
                  <a:srgbClr val="182B3A"/>
                </a:solidFill>
                <a:latin typeface="Courier New"/>
                <a:ea typeface="Courier New"/>
                <a:cs typeface="Courier New"/>
              </a:defRPr>
            </a:pPr>
            <a:r>
              <a:rPr sz="1725" b="0">
                <a:solidFill>
                  <a:srgbClr val="182B3A"/>
                </a:solidFill>
                <a:latin typeface="Courier New"/>
                <a:ea typeface="Courier New"/>
                <a:cs typeface="Courier New"/>
              </a:rPr>
              <a:t>yield event</a:t>
            </a:r>
          </a:p>
        </p:txBody>
      </p:sp>
      <p:sp>
        <p:nvSpPr>
          <p:cNvPr id="4" name="">
            <a:extLst xmlns:a="http://schemas.openxmlformats.org/drawingml/2006/main">
              <a:ext uri="{FF2B5EF4-FFF2-40B4-BE49-F238E27FC236}">
                <a16:creationId xmlns:a16="http://schemas.microsoft.com/office/drawing/2014/main" id="{CE6EA589-DBA0-4B05-83C7-8DF1BBF66A3A}"/>
              </a:ext>
            </a:extLst>
          </p:cNvPr>
          <p:cNvSpPr>
            <a:spLocks xmlns:a="http://schemas.openxmlformats.org/drawingml/2006/main" noGrp="1"/>
          </p:cNvSpPr>
          <p:nvPr/>
        </p:nvSpPr>
        <p:spPr>
          <a:xfrm xmlns:a="http://schemas.openxmlformats.org/drawingml/2006/main">
            <a:off x="685800" y="51911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3A"/>
                </a:solidFill>
                <a:latin typeface="Arial"/>
                <a:ea typeface="Arial"/>
                <a:cs typeface="Arial"/>
              </a:defRPr>
            </a:defPPr>
          </a:lstStyle>
          <a:p xmlns:a="http://schemas.openxmlformats.org/drawingml/2006/main">
            <a:pPr algn="l">
              <a:defRPr sz="2325" b="0">
                <a:solidFill>
                  <a:srgbClr val="182B3A"/>
                </a:solidFill>
                <a:latin typeface="Arial"/>
                <a:ea typeface="Arial"/>
                <a:cs typeface="Arial"/>
              </a:defRPr>
            </a:pPr>
            <a:r>
              <a:rPr sz="2325" b="0">
                <a:solidFill>
                  <a:srgbClr val="182B3A"/>
                </a:solidFill>
                <a:latin typeface="Arial"/>
                <a:ea typeface="Arial"/>
                <a:cs typeface="Arial"/>
              </a:rPr>
              <a:t>Renew after 23h50m. Reconnect after drops with bounded backoff.</a:t>
            </a:r>
          </a:p>
        </p:txBody>
      </p:sp>
      <p:sp>
        <p:nvSpPr>
          <p:cNvPr id="5" name="">
            <a:extLst xmlns:a="http://schemas.openxmlformats.org/drawingml/2006/main">
              <a:ext uri="{FF2B5EF4-FFF2-40B4-BE49-F238E27FC236}">
                <a16:creationId xmlns:a16="http://schemas.microsoft.com/office/drawing/2014/main" id="{A7A6FF67-C75D-45C7-AEC4-B869FF7C48D8}"/>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7"/>
                </a:solidFill>
                <a:latin typeface="Arial"/>
                <a:ea typeface="Arial"/>
                <a:cs typeface="Arial"/>
              </a:defRPr>
            </a:defPPr>
          </a:lstStyle>
          <a:p xmlns:a="http://schemas.openxmlformats.org/drawingml/2006/main">
            <a:pPr algn="l">
              <a:defRPr sz="1875" b="0">
                <a:solidFill>
                  <a:srgbClr val="526677"/>
                </a:solidFill>
                <a:latin typeface="Arial"/>
                <a:ea typeface="Arial"/>
                <a:cs typeface="Arial"/>
              </a:defRPr>
            </a:pPr>
            <a:r>
              <a:rPr sz="1875" b="0">
                <a:solidFill>
                  <a:srgbClr val="526677"/>
                </a:solidFill>
                <a:latin typeface="Arial"/>
                <a:ea typeface="Arial"/>
                <a:cs typeface="Arial"/>
              </a:rPr>
              <a:t>12 offline cases verify logic. A 24-hour live soak has not been measured.</a:t>
            </a:r>
          </a:p>
        </p:txBody>
      </p:sp>
    </p:spTree>
    <p:extLst>
      <p:ext uri="{BB962C8B-B14F-4D97-AF65-F5344CB8AC3E}">
        <p14:creationId xmlns:p14="http://schemas.microsoft.com/office/powerpoint/2010/main" val="12025068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136B347-5E2C-40F3-A115-1AD3E38D9E77}"/>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Running dashboard</a:t>
            </a:r>
          </a:p>
        </p:txBody>
      </p:sp>
      <p:sp>
        <p:nvSpPr>
          <p:cNvPr id="2" name="">
            <a:extLst xmlns:a="http://schemas.openxmlformats.org/drawingml/2006/main">
              <a:ext uri="{FF2B5EF4-FFF2-40B4-BE49-F238E27FC236}">
                <a16:creationId xmlns:a16="http://schemas.microsoft.com/office/drawing/2014/main" id="{85F6A9FC-D294-4395-98E7-A96E61E0EB12}"/>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970FEADA-079C-4B91-BFC4-F93C265E2298}"/>
              </a:ext>
            </a:extLst>
          </p:cNvPr>
          <p:cNvPicPr>
            <a:picLocks xmlns:a="http://schemas.openxmlformats.org/drawingml/2006/main" noChangeAspect="1"/>
          </p:cNvPicPr>
          <p:nvPr/>
        </p:nvPicPr>
        <p:blipFill>
          <a:blip xmlns:r="http://schemas.openxmlformats.org/officeDocument/2006/relationships" xmlns:a="http://schemas.openxmlformats.org/drawingml/2006/main" r:embed="Rb3c14c2e63144af3"/>
          <a:stretch xmlns:a="http://schemas.openxmlformats.org/drawingml/2006/main"/>
        </p:blipFill>
        <p:spPr>
          <a:xfrm xmlns:a="http://schemas.openxmlformats.org/drawingml/2006/main">
            <a:off x="2481000" y="1209675"/>
            <a:ext cx="7229999" cy="4972050"/>
          </a:xfrm>
          <a:prstGeom xmlns:a="http://schemas.openxmlformats.org/drawingml/2006/main" prst="rect">
            <a:avLst/>
          </a:prstGeom>
        </p:spPr>
      </p:pic>
    </p:spTree>
    <p:extLst>
      <p:ext uri="{BB962C8B-B14F-4D97-AF65-F5344CB8AC3E}">
        <p14:creationId xmlns:p14="http://schemas.microsoft.com/office/powerpoint/2010/main" val="19279391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9C1F2A-C2A0-4832-8458-DF899663F5CC}"/>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Rule configuration workflow</a:t>
            </a:r>
          </a:p>
        </p:txBody>
      </p:sp>
      <p:sp>
        <p:nvSpPr>
          <p:cNvPr id="2" name="">
            <a:extLst xmlns:a="http://schemas.openxmlformats.org/drawingml/2006/main">
              <a:ext uri="{FF2B5EF4-FFF2-40B4-BE49-F238E27FC236}">
                <a16:creationId xmlns:a16="http://schemas.microsoft.com/office/drawing/2014/main" id="{B9B1E5C0-9CE0-48ED-973B-0C0295999D51}"/>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2C13E094-C376-4FFE-86A3-3D4D5B2DEB9D}"/>
              </a:ext>
            </a:extLst>
          </p:cNvPr>
          <p:cNvPicPr>
            <a:picLocks xmlns:a="http://schemas.openxmlformats.org/drawingml/2006/main" noChangeAspect="1"/>
          </p:cNvPicPr>
          <p:nvPr/>
        </p:nvPicPr>
        <p:blipFill>
          <a:blip xmlns:r="http://schemas.openxmlformats.org/officeDocument/2006/relationships" xmlns:a="http://schemas.openxmlformats.org/drawingml/2006/main" r:embed="Rb8577e21520b4426"/>
          <a:stretch xmlns:a="http://schemas.openxmlformats.org/drawingml/2006/main"/>
        </p:blipFill>
        <p:spPr>
          <a:xfrm xmlns:a="http://schemas.openxmlformats.org/drawingml/2006/main">
            <a:off x="1226484" y="1238250"/>
            <a:ext cx="2919132"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770DBE-D20F-455F-8AAA-8AA36C2E354B}"/>
              </a:ext>
            </a:extLst>
          </p:cNvPr>
          <p:cNvSpPr>
            <a:spLocks xmlns:a="http://schemas.openxmlformats.org/drawingml/2006/main" noGrp="1"/>
          </p:cNvSpPr>
          <p:nvPr/>
        </p:nvSpPr>
        <p:spPr>
          <a:xfrm xmlns:a="http://schemas.openxmlformats.org/drawingml/2006/main">
            <a:off x="5314950" y="15430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A"/>
                </a:solidFill>
                <a:latin typeface="Arial"/>
                <a:ea typeface="Arial"/>
                <a:cs typeface="Arial"/>
              </a:defRPr>
            </a:defPPr>
          </a:lstStyle>
          <a:p xmlns:a="http://schemas.openxmlformats.org/drawingml/2006/main">
            <a:pPr algn="l">
              <a:defRPr sz="2250" b="0">
                <a:solidFill>
                  <a:srgbClr val="182B3A"/>
                </a:solidFill>
                <a:latin typeface="Arial"/>
                <a:ea typeface="Arial"/>
                <a:cs typeface="Arial"/>
              </a:defRPr>
            </a:pPr>
            <a:r>
              <a:rPr sz="2250" b="0">
                <a:solidFill>
                  <a:srgbClr val="182B3A"/>
                </a:solidFill>
                <a:latin typeface="Arial"/>
                <a:ea typeface="Arial"/>
                <a:cs typeface="Arial"/>
              </a:rPr>
              <a:t>Select pair and timeframe.</a:t>
            </a:r>
          </a:p>
        </p:txBody>
      </p:sp>
      <p:sp>
        <p:nvSpPr>
          <p:cNvPr id="5" name="">
            <a:extLst xmlns:a="http://schemas.openxmlformats.org/drawingml/2006/main">
              <a:ext uri="{FF2B5EF4-FFF2-40B4-BE49-F238E27FC236}">
                <a16:creationId xmlns:a16="http://schemas.microsoft.com/office/drawing/2014/main" id="{97C6088C-5FBE-4753-9CDC-28C2E3D0F58F}"/>
              </a:ext>
            </a:extLst>
          </p:cNvPr>
          <p:cNvSpPr>
            <a:spLocks xmlns:a="http://schemas.openxmlformats.org/drawingml/2006/main" noGrp="1"/>
          </p:cNvSpPr>
          <p:nvPr/>
        </p:nvSpPr>
        <p:spPr>
          <a:xfrm xmlns:a="http://schemas.openxmlformats.org/drawingml/2006/main">
            <a:off x="5314950" y="26860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A"/>
                </a:solidFill>
                <a:latin typeface="Arial"/>
                <a:ea typeface="Arial"/>
                <a:cs typeface="Arial"/>
              </a:defRPr>
            </a:defPPr>
          </a:lstStyle>
          <a:p xmlns:a="http://schemas.openxmlformats.org/drawingml/2006/main">
            <a:pPr algn="l">
              <a:defRPr sz="2250" b="0">
                <a:solidFill>
                  <a:srgbClr val="182B3A"/>
                </a:solidFill>
                <a:latin typeface="Arial"/>
                <a:ea typeface="Arial"/>
                <a:cs typeface="Arial"/>
              </a:defRPr>
            </a:pPr>
            <a:r>
              <a:rPr sz="2250" b="0">
                <a:solidFill>
                  <a:srgbClr val="182B3A"/>
                </a:solidFill>
                <a:latin typeface="Arial"/>
                <a:ea typeface="Arial"/>
                <a:cs typeface="Arial"/>
              </a:rPr>
              <a:t>Choose indicator, period and numeric threshold.</a:t>
            </a:r>
          </a:p>
        </p:txBody>
      </p:sp>
      <p:sp>
        <p:nvSpPr>
          <p:cNvPr id="6" name="">
            <a:extLst xmlns:a="http://schemas.openxmlformats.org/drawingml/2006/main">
              <a:ext uri="{FF2B5EF4-FFF2-40B4-BE49-F238E27FC236}">
                <a16:creationId xmlns:a16="http://schemas.microsoft.com/office/drawing/2014/main" id="{39E86ABC-BF67-47E6-969D-981FE406E84A}"/>
              </a:ext>
            </a:extLst>
          </p:cNvPr>
          <p:cNvSpPr>
            <a:spLocks xmlns:a="http://schemas.openxmlformats.org/drawingml/2006/main" noGrp="1"/>
          </p:cNvSpPr>
          <p:nvPr/>
        </p:nvSpPr>
        <p:spPr>
          <a:xfrm xmlns:a="http://schemas.openxmlformats.org/drawingml/2006/main">
            <a:off x="5314950" y="38290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A"/>
                </a:solidFill>
                <a:latin typeface="Arial"/>
                <a:ea typeface="Arial"/>
                <a:cs typeface="Arial"/>
              </a:defRPr>
            </a:defPPr>
          </a:lstStyle>
          <a:p xmlns:a="http://schemas.openxmlformats.org/drawingml/2006/main">
            <a:pPr algn="l">
              <a:defRPr sz="2250" b="0">
                <a:solidFill>
                  <a:srgbClr val="182B3A"/>
                </a:solidFill>
                <a:latin typeface="Arial"/>
                <a:ea typeface="Arial"/>
                <a:cs typeface="Arial"/>
              </a:defRPr>
            </a:pPr>
            <a:r>
              <a:rPr sz="2250" b="0">
                <a:solidFill>
                  <a:srgbClr val="182B3A"/>
                </a:solidFill>
                <a:latin typeface="Arial"/>
                <a:ea typeface="Arial"/>
                <a:cs typeface="Arial"/>
              </a:rPr>
              <a:t>Validate and save the rule in Redis.</a:t>
            </a:r>
          </a:p>
        </p:txBody>
      </p:sp>
      <p:sp>
        <p:nvSpPr>
          <p:cNvPr id="7" name="">
            <a:extLst xmlns:a="http://schemas.openxmlformats.org/drawingml/2006/main">
              <a:ext uri="{FF2B5EF4-FFF2-40B4-BE49-F238E27FC236}">
                <a16:creationId xmlns:a16="http://schemas.microsoft.com/office/drawing/2014/main" id="{8717E6D9-7DDB-4A79-B5DA-46DDE9F19F63}"/>
              </a:ext>
            </a:extLst>
          </p:cNvPr>
          <p:cNvSpPr>
            <a:spLocks xmlns:a="http://schemas.openxmlformats.org/drawingml/2006/main" noGrp="1"/>
          </p:cNvSpPr>
          <p:nvPr/>
        </p:nvSpPr>
        <p:spPr>
          <a:xfrm xmlns:a="http://schemas.openxmlformats.org/drawingml/2006/main">
            <a:off x="5314950" y="497205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A"/>
                </a:solidFill>
                <a:latin typeface="Arial"/>
                <a:ea typeface="Arial"/>
                <a:cs typeface="Arial"/>
              </a:defRPr>
            </a:defPPr>
          </a:lstStyle>
          <a:p xmlns:a="http://schemas.openxmlformats.org/drawingml/2006/main">
            <a:pPr algn="l">
              <a:defRPr sz="2250" b="0">
                <a:solidFill>
                  <a:srgbClr val="182B3A"/>
                </a:solidFill>
                <a:latin typeface="Arial"/>
                <a:ea typeface="Arial"/>
                <a:cs typeface="Arial"/>
              </a:defRPr>
            </a:pPr>
            <a:r>
              <a:rPr sz="2250" b="0">
                <a:solidFill>
                  <a:srgbClr val="182B3A"/>
                </a:solidFill>
                <a:latin typeface="Arial"/>
                <a:ea typeface="Arial"/>
                <a:cs typeface="Arial"/>
              </a:rPr>
              <a:t>Review the rule through the chart context and alert controls.</a:t>
            </a:r>
          </a:p>
        </p:txBody>
      </p:sp>
    </p:spTree>
    <p:extLst>
      <p:ext uri="{BB962C8B-B14F-4D97-AF65-F5344CB8AC3E}">
        <p14:creationId xmlns:p14="http://schemas.microsoft.com/office/powerpoint/2010/main" val="3600325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90F80C-5DCA-44F1-8CDB-CA2AF1E4696B}"/>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English responses in the AI assistant</a:t>
            </a:r>
          </a:p>
        </p:txBody>
      </p:sp>
      <p:sp>
        <p:nvSpPr>
          <p:cNvPr id="2" name="">
            <a:extLst xmlns:a="http://schemas.openxmlformats.org/drawingml/2006/main">
              <a:ext uri="{FF2B5EF4-FFF2-40B4-BE49-F238E27FC236}">
                <a16:creationId xmlns:a16="http://schemas.microsoft.com/office/drawing/2014/main" id="{1DEE9260-5581-4BC9-AE24-AAAA8B41F714}"/>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D70F27D2-ADBA-48CF-85DB-36737C3D2FA7}"/>
              </a:ext>
            </a:extLst>
          </p:cNvPr>
          <p:cNvPicPr>
            <a:picLocks xmlns:a="http://schemas.openxmlformats.org/drawingml/2006/main" noChangeAspect="1"/>
          </p:cNvPicPr>
          <p:nvPr/>
        </p:nvPicPr>
        <p:blipFill>
          <a:blip xmlns:r="http://schemas.openxmlformats.org/officeDocument/2006/relationships" xmlns:a="http://schemas.openxmlformats.org/drawingml/2006/main" r:embed="Ra8ce3b797a044b3c"/>
          <a:stretch xmlns:a="http://schemas.openxmlformats.org/drawingml/2006/main"/>
        </p:blipFill>
        <p:spPr>
          <a:xfrm xmlns:a="http://schemas.openxmlformats.org/drawingml/2006/main">
            <a:off x="1048963" y="1219200"/>
            <a:ext cx="3369424" cy="4972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90DD8C2-C666-4695-A6EE-821C9FFA3389}"/>
              </a:ext>
            </a:extLst>
          </p:cNvPr>
          <p:cNvSpPr>
            <a:spLocks xmlns:a="http://schemas.openxmlformats.org/drawingml/2006/main" noGrp="1"/>
          </p:cNvSpPr>
          <p:nvPr/>
        </p:nvSpPr>
        <p:spPr>
          <a:xfrm xmlns:a="http://schemas.openxmlformats.org/drawingml/2006/main">
            <a:off x="5429250" y="1666875"/>
            <a:ext cx="6076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3A"/>
                </a:solidFill>
                <a:latin typeface="Arial"/>
                <a:ea typeface="Arial"/>
                <a:cs typeface="Arial"/>
              </a:defRPr>
            </a:defPPr>
          </a:lstStyle>
          <a:p xmlns:a="http://schemas.openxmlformats.org/drawingml/2006/main">
            <a:pPr algn="l">
              <a:defRPr sz="2325" b="0">
                <a:solidFill>
                  <a:srgbClr val="182B3A"/>
                </a:solidFill>
                <a:latin typeface="Arial"/>
                <a:ea typeface="Arial"/>
                <a:cs typeface="Arial"/>
              </a:defRPr>
            </a:pPr>
            <a:r>
              <a:rPr sz="2325" b="0">
                <a:solidFill>
                  <a:srgbClr val="182B3A"/>
                </a:solidFill>
                <a:latin typeface="Arial"/>
                <a:ea typeface="Arial"/>
                <a:cs typeface="Arial"/>
              </a:rPr>
              <a:t>The backend computes and supplies the market snapshot.</a:t>
            </a:r>
          </a:p>
        </p:txBody>
      </p:sp>
      <p:sp>
        <p:nvSpPr>
          <p:cNvPr id="5" name="">
            <a:extLst xmlns:a="http://schemas.openxmlformats.org/drawingml/2006/main">
              <a:ext uri="{FF2B5EF4-FFF2-40B4-BE49-F238E27FC236}">
                <a16:creationId xmlns:a16="http://schemas.microsoft.com/office/drawing/2014/main" id="{F1989D1D-9147-40FB-A525-D7C635BF957F}"/>
              </a:ext>
            </a:extLst>
          </p:cNvPr>
          <p:cNvSpPr>
            <a:spLocks xmlns:a="http://schemas.openxmlformats.org/drawingml/2006/main" noGrp="1"/>
          </p:cNvSpPr>
          <p:nvPr/>
        </p:nvSpPr>
        <p:spPr>
          <a:xfrm xmlns:a="http://schemas.openxmlformats.org/drawingml/2006/main">
            <a:off x="5429250" y="3048000"/>
            <a:ext cx="6076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3A"/>
                </a:solidFill>
                <a:latin typeface="Arial"/>
                <a:ea typeface="Arial"/>
                <a:cs typeface="Arial"/>
              </a:defRPr>
            </a:defPPr>
          </a:lstStyle>
          <a:p xmlns:a="http://schemas.openxmlformats.org/drawingml/2006/main">
            <a:pPr algn="l">
              <a:defRPr sz="2325" b="0">
                <a:solidFill>
                  <a:srgbClr val="182B3A"/>
                </a:solidFill>
                <a:latin typeface="Arial"/>
                <a:ea typeface="Arial"/>
                <a:cs typeface="Arial"/>
              </a:defRPr>
            </a:pPr>
            <a:r>
              <a:rPr sz="2325" b="0">
                <a:solidFill>
                  <a:srgbClr val="182B3A"/>
                </a:solidFill>
                <a:latin typeface="Arial"/>
                <a:ea typeface="Arial"/>
                <a:cs typeface="Arial"/>
              </a:rPr>
              <a:t>Answers identify the selected pair, timeframe and closed-candle basis.</a:t>
            </a:r>
          </a:p>
        </p:txBody>
      </p:sp>
      <p:sp>
        <p:nvSpPr>
          <p:cNvPr id="6" name="">
            <a:extLst xmlns:a="http://schemas.openxmlformats.org/drawingml/2006/main">
              <a:ext uri="{FF2B5EF4-FFF2-40B4-BE49-F238E27FC236}">
                <a16:creationId xmlns:a16="http://schemas.microsoft.com/office/drawing/2014/main" id="{CA53E41B-5247-4DCF-81F9-B72FBE6DCD66}"/>
              </a:ext>
            </a:extLst>
          </p:cNvPr>
          <p:cNvSpPr>
            <a:spLocks xmlns:a="http://schemas.openxmlformats.org/drawingml/2006/main" noGrp="1"/>
          </p:cNvSpPr>
          <p:nvPr/>
        </p:nvSpPr>
        <p:spPr>
          <a:xfrm xmlns:a="http://schemas.openxmlformats.org/drawingml/2006/main">
            <a:off x="5429250" y="4429125"/>
            <a:ext cx="6076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3A"/>
                </a:solidFill>
                <a:latin typeface="Arial"/>
                <a:ea typeface="Arial"/>
                <a:cs typeface="Arial"/>
              </a:defRPr>
            </a:defPPr>
          </a:lstStyle>
          <a:p xmlns:a="http://schemas.openxmlformats.org/drawingml/2006/main">
            <a:pPr algn="l">
              <a:defRPr sz="2325" b="0">
                <a:solidFill>
                  <a:srgbClr val="182B3A"/>
                </a:solidFill>
                <a:latin typeface="Arial"/>
                <a:ea typeface="Arial"/>
                <a:cs typeface="Arial"/>
              </a:defRPr>
            </a:pPr>
            <a:r>
              <a:rPr sz="2325" b="0">
                <a:solidFill>
                  <a:srgbClr val="182B3A"/>
                </a:solidFill>
                <a:latin typeface="Arial"/>
                <a:ea typeface="Arial"/>
                <a:cs typeface="Arial"/>
              </a:rPr>
              <a:t>The model explains conditions and uncertainty using the available data.</a:t>
            </a:r>
          </a:p>
        </p:txBody>
      </p:sp>
    </p:spTree>
    <p:extLst>
      <p:ext uri="{BB962C8B-B14F-4D97-AF65-F5344CB8AC3E}">
        <p14:creationId xmlns:p14="http://schemas.microsoft.com/office/powerpoint/2010/main" val="17671024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9E7F5D-CDB2-4EF1-B3C0-BDE97A586970}"/>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Verification results</a:t>
            </a:r>
          </a:p>
        </p:txBody>
      </p:sp>
      <p:sp>
        <p:nvSpPr>
          <p:cNvPr id="2" name="">
            <a:extLst xmlns:a="http://schemas.openxmlformats.org/drawingml/2006/main">
              <a:ext uri="{FF2B5EF4-FFF2-40B4-BE49-F238E27FC236}">
                <a16:creationId xmlns:a16="http://schemas.microsoft.com/office/drawing/2014/main" id="{07B2DF9D-4479-493F-90E3-1612F15A98D7}"/>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381B98A9-BCBE-4637-893C-D50FCF603184}"/>
              </a:ext>
            </a:extLst>
          </p:cNvPr>
          <p:cNvGraphicFramePr/>
          <p:nvPr/>
        </p:nvGraphicFramePr>
        <p:xfrm>
          <a:off xmlns:a="http://schemas.openxmlformats.org/drawingml/2006/main" x="685800" y="1409700"/>
          <a:ext xmlns:a="http://schemas.openxmlformats.org/drawingml/2006/main" cx="10820400" cy="4095750"/>
        </p:xfrm>
        <a:graphic xmlns:a="http://schemas.openxmlformats.org/drawingml/2006/main">
          <a:graphicData uri="http://schemas.openxmlformats.org/drawingml/2006/table">
            <a:tbl>
              <a:tblPr/>
              <a:tblGrid>
                <a:gridCol w="5715000"/>
                <a:gridCol w="5105400"/>
              </a:tblGrid>
              <a:tr h="682625">
                <a:tc>
                  <a:txBody>
                    <a:bodyPr/>
                    <a:lstStyle/>
                    <a:p>
                      <a:r>
                        <a:rPr sz="2025" b="1">
                          <a:solidFill>
                            <a:srgbClr val="FFFFFF"/>
                          </a:solidFill>
                          <a:latin typeface="Arial"/>
                          <a:ea typeface="Arial"/>
                          <a:cs typeface="Arial"/>
                        </a:rPr>
                        <a:t>Verification</a:t>
                      </a:r>
                    </a:p>
                  </a:txBody>
                  <a:tcPr marL="114300" marR="114300" marT="95250" marB="95250" anchor="ctr">
                    <a:solidFill>
                      <a:srgbClr val="17344D"/>
                    </a:solidFill>
                  </a:tcPr>
                </a:tc>
                <a:tc>
                  <a:txBody>
                    <a:bodyPr/>
                    <a:lstStyle/>
                    <a:p>
                      <a:r>
                        <a:rPr sz="2025" b="1">
                          <a:solidFill>
                            <a:srgbClr val="FFFFFF"/>
                          </a:solidFill>
                          <a:latin typeface="Arial"/>
                          <a:ea typeface="Arial"/>
                          <a:cs typeface="Arial"/>
                        </a:rPr>
                        <a:t>Observed result</a:t>
                      </a:r>
                    </a:p>
                  </a:txBody>
                  <a:tcPr marL="114300" marR="114300" marT="95250" marB="95250" anchor="ctr">
                    <a:solidFill>
                      <a:srgbClr val="17344D"/>
                    </a:solidFill>
                  </a:tcPr>
                </a:tc>
              </a:tr>
              <a:tr h="682625">
                <a:tc>
                  <a:txBody>
                    <a:bodyPr/>
                    <a:lstStyle/>
                    <a:p>
                      <a:r>
                        <a:rPr sz="2025" b="0">
                          <a:solidFill>
                            <a:srgbClr val="182B3A"/>
                          </a:solidFill>
                          <a:latin typeface="Arial"/>
                          <a:ea typeface="Arial"/>
                          <a:cs typeface="Arial"/>
                        </a:rPr>
                        <a:t>Backend test suite</a:t>
                      </a:r>
                    </a:p>
                  </a:txBody>
                  <a:tcPr marL="114300" marR="114300" marT="95250" marB="95250" anchor="ctr">
                    <a:solidFill>
                      <a:srgbClr val="FFFFFF"/>
                    </a:solidFill>
                  </a:tcPr>
                </a:tc>
                <a:tc>
                  <a:txBody>
                    <a:bodyPr/>
                    <a:lstStyle/>
                    <a:p>
                      <a:r>
                        <a:rPr sz="2025" b="0">
                          <a:solidFill>
                            <a:srgbClr val="182B3A"/>
                          </a:solidFill>
                          <a:latin typeface="Arial"/>
                          <a:ea typeface="Arial"/>
                          <a:cs typeface="Arial"/>
                        </a:rPr>
                        <a:t>385 passed, 4 skipped</a:t>
                      </a:r>
                    </a:p>
                  </a:txBody>
                  <a:tcPr marL="114300" marR="114300" marT="95250" marB="95250" anchor="ctr">
                    <a:solidFill>
                      <a:srgbClr val="FFFFFF"/>
                    </a:solidFill>
                  </a:tcPr>
                </a:tc>
              </a:tr>
              <a:tr h="682625">
                <a:tc>
                  <a:txBody>
                    <a:bodyPr/>
                    <a:lstStyle/>
                    <a:p>
                      <a:r>
                        <a:rPr sz="2025" b="0">
                          <a:solidFill>
                            <a:srgbClr val="182B3A"/>
                          </a:solidFill>
                          <a:latin typeface="Arial"/>
                          <a:ea typeface="Arial"/>
                          <a:cs typeface="Arial"/>
                        </a:rPr>
                        <a:t>Frontend tests</a:t>
                      </a:r>
                    </a:p>
                  </a:txBody>
                  <a:tcPr marL="114300" marR="114300" marT="95250" marB="95250" anchor="ctr">
                    <a:solidFill>
                      <a:srgbClr val="F2F5F8"/>
                    </a:solidFill>
                  </a:tcPr>
                </a:tc>
                <a:tc>
                  <a:txBody>
                    <a:bodyPr/>
                    <a:lstStyle/>
                    <a:p>
                      <a:r>
                        <a:rPr sz="2025" b="0">
                          <a:solidFill>
                            <a:srgbClr val="182B3A"/>
                          </a:solidFill>
                          <a:latin typeface="Arial"/>
                          <a:ea typeface="Arial"/>
                          <a:cs typeface="Arial"/>
                        </a:rPr>
                        <a:t>22 passed</a:t>
                      </a:r>
                    </a:p>
                  </a:txBody>
                  <a:tcPr marL="114300" marR="114300" marT="95250" marB="95250" anchor="ctr">
                    <a:solidFill>
                      <a:srgbClr val="F2F5F8"/>
                    </a:solidFill>
                  </a:tcPr>
                </a:tc>
              </a:tr>
              <a:tr h="682625">
                <a:tc>
                  <a:txBody>
                    <a:bodyPr/>
                    <a:lstStyle/>
                    <a:p>
                      <a:r>
                        <a:rPr sz="2025" b="0">
                          <a:solidFill>
                            <a:srgbClr val="182B3A"/>
                          </a:solidFill>
                          <a:latin typeface="Arial"/>
                          <a:ea typeface="Arial"/>
                          <a:cs typeface="Arial"/>
                        </a:rPr>
                        <a:t>Frontend production build</a:t>
                      </a:r>
                    </a:p>
                  </a:txBody>
                  <a:tcPr marL="114300" marR="114300" marT="95250" marB="95250" anchor="ctr">
                    <a:solidFill>
                      <a:srgbClr val="FFFFFF"/>
                    </a:solidFill>
                  </a:tcPr>
                </a:tc>
                <a:tc>
                  <a:txBody>
                    <a:bodyPr/>
                    <a:lstStyle/>
                    <a:p>
                      <a:r>
                        <a:rPr sz="2025" b="0">
                          <a:solidFill>
                            <a:srgbClr val="182B3A"/>
                          </a:solidFill>
                          <a:latin typeface="Arial"/>
                          <a:ea typeface="Arial"/>
                          <a:cs typeface="Arial"/>
                        </a:rPr>
                        <a:t>Completed successfully</a:t>
                      </a:r>
                    </a:p>
                  </a:txBody>
                  <a:tcPr marL="114300" marR="114300" marT="95250" marB="95250" anchor="ctr">
                    <a:solidFill>
                      <a:srgbClr val="FFFFFF"/>
                    </a:solidFill>
                  </a:tcPr>
                </a:tc>
              </a:tr>
              <a:tr h="682625">
                <a:tc>
                  <a:txBody>
                    <a:bodyPr/>
                    <a:lstStyle/>
                    <a:p>
                      <a:r>
                        <a:rPr sz="2025" b="0">
                          <a:solidFill>
                            <a:srgbClr val="182B3A"/>
                          </a:solidFill>
                          <a:latin typeface="Arial"/>
                          <a:ea typeface="Arial"/>
                          <a:cs typeface="Arial"/>
                        </a:rPr>
                        <a:t>Standalone WebSocket tests</a:t>
                      </a:r>
                    </a:p>
                  </a:txBody>
                  <a:tcPr marL="114300" marR="114300" marT="95250" marB="95250" anchor="ctr">
                    <a:solidFill>
                      <a:srgbClr val="F2F5F8"/>
                    </a:solidFill>
                  </a:tcPr>
                </a:tc>
                <a:tc>
                  <a:txBody>
                    <a:bodyPr/>
                    <a:lstStyle/>
                    <a:p>
                      <a:r>
                        <a:rPr sz="2025" b="0">
                          <a:solidFill>
                            <a:srgbClr val="182B3A"/>
                          </a:solidFill>
                          <a:latin typeface="Arial"/>
                          <a:ea typeface="Arial"/>
                          <a:cs typeface="Arial"/>
                        </a:rPr>
                        <a:t>12 passed within the backend total</a:t>
                      </a:r>
                    </a:p>
                  </a:txBody>
                  <a:tcPr marL="114300" marR="114300" marT="95250" marB="95250" anchor="ctr">
                    <a:solidFill>
                      <a:srgbClr val="F2F5F8"/>
                    </a:solidFill>
                  </a:tcPr>
                </a:tc>
              </a:tr>
              <a:tr h="682625">
                <a:tc>
                  <a:txBody>
                    <a:bodyPr/>
                    <a:lstStyle/>
                    <a:p>
                      <a:r>
                        <a:rPr sz="2025" b="0">
                          <a:solidFill>
                            <a:srgbClr val="182B3A"/>
                          </a:solidFill>
                          <a:latin typeface="Arial"/>
                          <a:ea typeface="Arial"/>
                          <a:cs typeface="Arial"/>
                        </a:rPr>
                        <a:t>Five-symbol on-demand retrieval</a:t>
                      </a:r>
                    </a:p>
                  </a:txBody>
                  <a:tcPr marL="114300" marR="114300" marT="95250" marB="95250" anchor="ctr">
                    <a:solidFill>
                      <a:srgbClr val="FFFFFF"/>
                    </a:solidFill>
                  </a:tcPr>
                </a:tc>
                <a:tc>
                  <a:txBody>
                    <a:bodyPr/>
                    <a:lstStyle/>
                    <a:p>
                      <a:r>
                        <a:rPr sz="2025" b="0">
                          <a:solidFill>
                            <a:srgbClr val="182B3A"/>
                          </a:solidFill>
                          <a:latin typeface="Arial"/>
                          <a:ea typeface="Arial"/>
                          <a:cs typeface="Arial"/>
                        </a:rPr>
                        <a:t>5 of 5 pairs returned 300 candles</a:t>
                      </a:r>
                    </a:p>
                  </a:txBody>
                  <a:tcPr marL="114300" marR="11430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D0AA6D3-3B2D-463A-9D6A-0ECF38381787}"/>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677"/>
                </a:solidFill>
                <a:latin typeface="Arial"/>
                <a:ea typeface="Arial"/>
                <a:cs typeface="Arial"/>
              </a:defRPr>
            </a:defPPr>
          </a:lstStyle>
          <a:p xmlns:a="http://schemas.openxmlformats.org/drawingml/2006/main">
            <a:pPr algn="l">
              <a:defRPr sz="1875" b="0">
                <a:solidFill>
                  <a:srgbClr val="526677"/>
                </a:solidFill>
                <a:latin typeface="Arial"/>
                <a:ea typeface="Arial"/>
                <a:cs typeface="Arial"/>
              </a:defRPr>
            </a:pPr>
            <a:r>
              <a:rPr sz="1875" b="0">
                <a:solidFill>
                  <a:srgbClr val="526677"/>
                </a:solidFill>
                <a:latin typeface="Arial"/>
                <a:ea typeface="Arial"/>
                <a:cs typeface="Arial"/>
              </a:rPr>
              <a:t>Mock test results and live integration observations are reported separately.</a:t>
            </a:r>
          </a:p>
        </p:txBody>
      </p:sp>
    </p:spTree>
    <p:extLst>
      <p:ext uri="{BB962C8B-B14F-4D97-AF65-F5344CB8AC3E}">
        <p14:creationId xmlns:p14="http://schemas.microsoft.com/office/powerpoint/2010/main" val="13192797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87889F-5525-4818-A13E-73AA07A16E7B}"/>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AI evaluation method</a:t>
            </a:r>
          </a:p>
        </p:txBody>
      </p:sp>
      <p:sp>
        <p:nvSpPr>
          <p:cNvPr id="2" name="">
            <a:extLst xmlns:a="http://schemas.openxmlformats.org/drawingml/2006/main">
              <a:ext uri="{FF2B5EF4-FFF2-40B4-BE49-F238E27FC236}">
                <a16:creationId xmlns:a16="http://schemas.microsoft.com/office/drawing/2014/main" id="{E94A2DB6-81C7-4D84-96F8-7BB392E2454E}"/>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017D0CB-254F-49E9-BCAE-000CAF207087}"/>
              </a:ext>
            </a:extLst>
          </p:cNvPr>
          <p:cNvSpPr>
            <a:spLocks xmlns:a="http://schemas.openxmlformats.org/drawingml/2006/main" noGrp="1"/>
          </p:cNvSpPr>
          <p:nvPr/>
        </p:nvSpPr>
        <p:spPr>
          <a:xfrm xmlns:a="http://schemas.openxmlformats.org/drawingml/2006/main">
            <a:off x="685800" y="13049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72"/>
                </a:solidFill>
                <a:latin typeface="Arial"/>
                <a:ea typeface="Arial"/>
                <a:cs typeface="Arial"/>
              </a:defRPr>
            </a:defPPr>
          </a:lstStyle>
          <a:p xmlns:a="http://schemas.openxmlformats.org/drawingml/2006/main">
            <a:pPr algn="l">
              <a:defRPr sz="2325" b="1">
                <a:solidFill>
                  <a:srgbClr val="087F72"/>
                </a:solidFill>
                <a:latin typeface="Arial"/>
                <a:ea typeface="Arial"/>
                <a:cs typeface="Arial"/>
              </a:defRPr>
            </a:pPr>
            <a:r>
              <a:rPr sz="2325" b="1">
                <a:solidFill>
                  <a:srgbClr val="087F72"/>
                </a:solidFill>
                <a:latin typeface="Arial"/>
                <a:ea typeface="Arial"/>
                <a:cs typeface="Arial"/>
              </a:rPr>
              <a:t>Six live questions. Five criteria. Maximum 10 points per answer.</a:t>
            </a:r>
          </a:p>
        </p:txBody>
      </p:sp>
      <p:graphicFrame>
        <p:nvGraphicFramePr>
          <p:cNvPr id="4" name="">
            <a:extLst xmlns:a="http://schemas.openxmlformats.org/drawingml/2006/main">
              <a:ext uri="{FF2B5EF4-FFF2-40B4-BE49-F238E27FC236}">
                <a16:creationId xmlns:a16="http://schemas.microsoft.com/office/drawing/2014/main" id="{1E204852-C6B3-42D4-8251-112A80BB2E20}"/>
              </a:ext>
            </a:extLst>
          </p:cNvPr>
          <p:cNvGraphicFramePr/>
          <p:nvPr/>
        </p:nvGraphicFramePr>
        <p:xfrm>
          <a:off xmlns:a="http://schemas.openxmlformats.org/drawingml/2006/main" x="685800" y="2095500"/>
          <a:ext xmlns:a="http://schemas.openxmlformats.org/drawingml/2006/main" cx="10820400" cy="3476625"/>
        </p:xfrm>
        <a:graphic xmlns:a="http://schemas.openxmlformats.org/drawingml/2006/main">
          <a:graphicData uri="http://schemas.openxmlformats.org/drawingml/2006/table">
            <a:tbl>
              <a:tblPr/>
              <a:tblGrid>
                <a:gridCol w="3238500"/>
                <a:gridCol w="7581900"/>
              </a:tblGrid>
              <a:tr h="579438">
                <a:tc>
                  <a:txBody>
                    <a:bodyPr/>
                    <a:lstStyle/>
                    <a:p>
                      <a:r>
                        <a:rPr sz="1875" b="1">
                          <a:solidFill>
                            <a:srgbClr val="FFFFFF"/>
                          </a:solidFill>
                          <a:latin typeface="Arial"/>
                          <a:ea typeface="Arial"/>
                          <a:cs typeface="Arial"/>
                        </a:rPr>
                        <a:t>Criterion</a:t>
                      </a:r>
                    </a:p>
                  </a:txBody>
                  <a:tcPr marL="114300" marR="114300" marT="95250" marB="95250" anchor="ctr">
                    <a:solidFill>
                      <a:srgbClr val="17344D"/>
                    </a:solidFill>
                  </a:tcPr>
                </a:tc>
                <a:tc>
                  <a:txBody>
                    <a:bodyPr/>
                    <a:lstStyle/>
                    <a:p>
                      <a:r>
                        <a:rPr sz="1875" b="1">
                          <a:solidFill>
                            <a:srgbClr val="FFFFFF"/>
                          </a:solidFill>
                          <a:latin typeface="Arial"/>
                          <a:ea typeface="Arial"/>
                          <a:cs typeface="Arial"/>
                        </a:rPr>
                        <a:t>Review focus</a:t>
                      </a:r>
                    </a:p>
                  </a:txBody>
                  <a:tcPr marL="114300" marR="114300" marT="95250" marB="95250" anchor="ctr">
                    <a:solidFill>
                      <a:srgbClr val="17344D"/>
                    </a:solidFill>
                  </a:tcPr>
                </a:tc>
              </a:tr>
              <a:tr h="579438">
                <a:tc>
                  <a:txBody>
                    <a:bodyPr/>
                    <a:lstStyle/>
                    <a:p>
                      <a:r>
                        <a:rPr sz="1875" b="0">
                          <a:solidFill>
                            <a:srgbClr val="182B3A"/>
                          </a:solidFill>
                          <a:latin typeface="Arial"/>
                          <a:ea typeface="Arial"/>
                          <a:cs typeface="Arial"/>
                        </a:rPr>
                        <a:t>Grounding</a:t>
                      </a:r>
                    </a:p>
                  </a:txBody>
                  <a:tcPr marL="114300" marR="114300" marT="95250" marB="95250" anchor="ctr">
                    <a:solidFill>
                      <a:srgbClr val="FFFFFF"/>
                    </a:solidFill>
                  </a:tcPr>
                </a:tc>
                <a:tc>
                  <a:txBody>
                    <a:bodyPr/>
                    <a:lstStyle/>
                    <a:p>
                      <a:r>
                        <a:rPr sz="1875" b="0">
                          <a:solidFill>
                            <a:srgbClr val="182B3A"/>
                          </a:solidFill>
                          <a:latin typeface="Arial"/>
                          <a:ea typeface="Arial"/>
                          <a:cs typeface="Arial"/>
                        </a:rPr>
                        <a:t>Agreement with supplied evidence</a:t>
                      </a:r>
                    </a:p>
                  </a:txBody>
                  <a:tcPr marL="114300" marR="114300" marT="95250" marB="95250" anchor="ctr">
                    <a:solidFill>
                      <a:srgbClr val="FFFFFF"/>
                    </a:solidFill>
                  </a:tcPr>
                </a:tc>
              </a:tr>
              <a:tr h="579438">
                <a:tc>
                  <a:txBody>
                    <a:bodyPr/>
                    <a:lstStyle/>
                    <a:p>
                      <a:r>
                        <a:rPr sz="1875" b="0">
                          <a:solidFill>
                            <a:srgbClr val="182B3A"/>
                          </a:solidFill>
                          <a:latin typeface="Arial"/>
                          <a:ea typeface="Arial"/>
                          <a:cs typeface="Arial"/>
                        </a:rPr>
                        <a:t>Task fulfilment</a:t>
                      </a:r>
                    </a:p>
                  </a:txBody>
                  <a:tcPr marL="114300" marR="114300" marT="95250" marB="95250" anchor="ctr">
                    <a:solidFill>
                      <a:srgbClr val="F2F5F8"/>
                    </a:solidFill>
                  </a:tcPr>
                </a:tc>
                <a:tc>
                  <a:txBody>
                    <a:bodyPr/>
                    <a:lstStyle/>
                    <a:p>
                      <a:r>
                        <a:rPr sz="1875" b="0">
                          <a:solidFill>
                            <a:srgbClr val="182B3A"/>
                          </a:solidFill>
                          <a:latin typeface="Arial"/>
                          <a:ea typeface="Arial"/>
                          <a:cs typeface="Arial"/>
                        </a:rPr>
                        <a:t>Relevant answer and English policy</a:t>
                      </a:r>
                    </a:p>
                  </a:txBody>
                  <a:tcPr marL="114300" marR="114300" marT="95250" marB="95250" anchor="ctr">
                    <a:solidFill>
                      <a:srgbClr val="F2F5F8"/>
                    </a:solidFill>
                  </a:tcPr>
                </a:tc>
              </a:tr>
              <a:tr h="579438">
                <a:tc>
                  <a:txBody>
                    <a:bodyPr/>
                    <a:lstStyle/>
                    <a:p>
                      <a:r>
                        <a:rPr sz="1875" b="0">
                          <a:solidFill>
                            <a:srgbClr val="182B3A"/>
                          </a:solidFill>
                          <a:latin typeface="Arial"/>
                          <a:ea typeface="Arial"/>
                          <a:cs typeface="Arial"/>
                        </a:rPr>
                        <a:t>Honesty and safety</a:t>
                      </a:r>
                    </a:p>
                  </a:txBody>
                  <a:tcPr marL="114300" marR="114300" marT="95250" marB="95250" anchor="ctr">
                    <a:solidFill>
                      <a:srgbClr val="FFFFFF"/>
                    </a:solidFill>
                  </a:tcPr>
                </a:tc>
                <a:tc>
                  <a:txBody>
                    <a:bodyPr/>
                    <a:lstStyle/>
                    <a:p>
                      <a:r>
                        <a:rPr sz="1875" b="0">
                          <a:solidFill>
                            <a:srgbClr val="182B3A"/>
                          </a:solidFill>
                          <a:latin typeface="Arial"/>
                          <a:ea typeface="Arial"/>
                          <a:cs typeface="Arial"/>
                        </a:rPr>
                        <a:t>No secrets, invented certainty or personal trading instructions</a:t>
                      </a:r>
                    </a:p>
                  </a:txBody>
                  <a:tcPr marL="114300" marR="114300" marT="95250" marB="95250" anchor="ctr">
                    <a:solidFill>
                      <a:srgbClr val="FFFFFF"/>
                    </a:solidFill>
                  </a:tcPr>
                </a:tc>
              </a:tr>
              <a:tr h="579438">
                <a:tc>
                  <a:txBody>
                    <a:bodyPr/>
                    <a:lstStyle/>
                    <a:p>
                      <a:r>
                        <a:rPr sz="1875" b="0">
                          <a:solidFill>
                            <a:srgbClr val="182B3A"/>
                          </a:solidFill>
                          <a:latin typeface="Arial"/>
                          <a:ea typeface="Arial"/>
                          <a:cs typeface="Arial"/>
                        </a:rPr>
                        <a:t>Clarity</a:t>
                      </a:r>
                    </a:p>
                  </a:txBody>
                  <a:tcPr marL="114300" marR="114300" marT="95250" marB="95250" anchor="ctr">
                    <a:solidFill>
                      <a:srgbClr val="F2F5F8"/>
                    </a:solidFill>
                  </a:tcPr>
                </a:tc>
                <a:tc>
                  <a:txBody>
                    <a:bodyPr/>
                    <a:lstStyle/>
                    <a:p>
                      <a:r>
                        <a:rPr sz="1875" b="0">
                          <a:solidFill>
                            <a:srgbClr val="182B3A"/>
                          </a:solidFill>
                          <a:latin typeface="Arial"/>
                          <a:ea typeface="Arial"/>
                          <a:cs typeface="Arial"/>
                        </a:rPr>
                        <a:t>Readable language without unnecessary internal fields</a:t>
                      </a:r>
                    </a:p>
                  </a:txBody>
                  <a:tcPr marL="114300" marR="114300" marT="95250" marB="95250" anchor="ctr">
                    <a:solidFill>
                      <a:srgbClr val="F2F5F8"/>
                    </a:solidFill>
                  </a:tcPr>
                </a:tc>
              </a:tr>
              <a:tr h="579438">
                <a:tc>
                  <a:txBody>
                    <a:bodyPr/>
                    <a:lstStyle/>
                    <a:p>
                      <a:r>
                        <a:rPr sz="1875" b="0">
                          <a:solidFill>
                            <a:srgbClr val="182B3A"/>
                          </a:solidFill>
                          <a:latin typeface="Arial"/>
                          <a:ea typeface="Arial"/>
                          <a:cs typeface="Arial"/>
                        </a:rPr>
                        <a:t>Scope accuracy</a:t>
                      </a:r>
                    </a:p>
                  </a:txBody>
                  <a:tcPr marL="114300" marR="114300" marT="95250" marB="95250" anchor="ctr">
                    <a:solidFill>
                      <a:srgbClr val="FFFFFF"/>
                    </a:solidFill>
                  </a:tcPr>
                </a:tc>
                <a:tc>
                  <a:txBody>
                    <a:bodyPr/>
                    <a:lstStyle/>
                    <a:p>
                      <a:r>
                        <a:rPr sz="1875" b="0">
                          <a:solidFill>
                            <a:srgbClr val="182B3A"/>
                          </a:solidFill>
                          <a:latin typeface="Arial"/>
                          <a:ea typeface="Arial"/>
                          <a:cs typeface="Arial"/>
                        </a:rPr>
                        <a:t>Correct data availability and application behavior</a:t>
                      </a:r>
                    </a:p>
                  </a:txBody>
                  <a:tcPr marL="1143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665F86D-92FC-46B3-9640-DAB2A7830971}"/>
              </a:ext>
            </a:extLst>
          </p:cNvPr>
          <p:cNvSpPr>
            <a:spLocks xmlns:a="http://schemas.openxmlformats.org/drawingml/2006/main" noGrp="1"/>
          </p:cNvSpPr>
          <p:nvPr/>
        </p:nvSpPr>
        <p:spPr>
          <a:xfrm xmlns:a="http://schemas.openxmlformats.org/drawingml/2006/main">
            <a:off x="685800" y="58293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677"/>
                </a:solidFill>
                <a:latin typeface="Arial"/>
                <a:ea typeface="Arial"/>
                <a:cs typeface="Arial"/>
              </a:defRPr>
            </a:defPPr>
          </a:lstStyle>
          <a:p xmlns:a="http://schemas.openxmlformats.org/drawingml/2006/main">
            <a:pPr algn="l">
              <a:defRPr sz="1800" b="0">
                <a:solidFill>
                  <a:srgbClr val="526677"/>
                </a:solidFill>
                <a:latin typeface="Arial"/>
                <a:ea typeface="Arial"/>
                <a:cs typeface="Arial"/>
              </a:defRPr>
            </a:pPr>
            <a:r>
              <a:rPr sz="1800" b="0">
                <a:solidFill>
                  <a:srgbClr val="526677"/>
                </a:solidFill>
                <a:latin typeface="Arial"/>
                <a:ea typeface="Arial"/>
                <a:cs typeface="Arial"/>
              </a:rPr>
              <a:t>Scale per criterion: 0 fails, 1 partially meets, 2 meets for the tested prompt.</a:t>
            </a:r>
          </a:p>
        </p:txBody>
      </p:sp>
    </p:spTree>
    <p:extLst>
      <p:ext uri="{BB962C8B-B14F-4D97-AF65-F5344CB8AC3E}">
        <p14:creationId xmlns:p14="http://schemas.microsoft.com/office/powerpoint/2010/main" val="6439008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FA532E-17DE-43FE-B3B5-EDA914CFF4E2}"/>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AI evaluation results</a:t>
            </a:r>
          </a:p>
        </p:txBody>
      </p:sp>
      <p:sp>
        <p:nvSpPr>
          <p:cNvPr id="2" name="">
            <a:extLst xmlns:a="http://schemas.openxmlformats.org/drawingml/2006/main">
              <a:ext uri="{FF2B5EF4-FFF2-40B4-BE49-F238E27FC236}">
                <a16:creationId xmlns:a16="http://schemas.microsoft.com/office/drawing/2014/main" id="{E62A905B-F4F7-441C-B74E-6F6C8B6A3D57}"/>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17</a:t>
            </a:r>
          </a:p>
        </p:txBody>
      </p:sp>
      <p:graphicFrame>
        <p:nvGraphicFramePr>
          <p:cNvPr id="3" name="">
            <a:extLst xmlns:a="http://schemas.openxmlformats.org/drawingml/2006/main">
              <a:ext uri="{FF2B5EF4-FFF2-40B4-BE49-F238E27FC236}">
                <a16:creationId xmlns:a16="http://schemas.microsoft.com/office/drawing/2014/main" id="{2526F23E-EBB9-4E9E-A88C-2323EE202661}"/>
              </a:ext>
            </a:extLst>
          </p:cNvPr>
          <p:cNvGraphicFramePr/>
          <p:nvPr/>
        </p:nvGraphicFramePr>
        <p:xfrm>
          <a:off xmlns:a="http://schemas.openxmlformats.org/drawingml/2006/main" x="685800" y="1409700"/>
          <a:ext xmlns:a="http://schemas.openxmlformats.org/drawingml/2006/main" cx="10820400" cy="3905250"/>
        </p:xfrm>
        <a:graphic xmlns:a="http://schemas.openxmlformats.org/drawingml/2006/main">
          <a:graphicData uri="http://schemas.openxmlformats.org/drawingml/2006/table">
            <a:tbl>
              <a:tblPr/>
              <a:tblGrid>
                <a:gridCol w="1143000"/>
                <a:gridCol w="5905500"/>
                <a:gridCol w="1619250"/>
                <a:gridCol w="2152650"/>
              </a:tblGrid>
              <a:tr h="557893">
                <a:tc>
                  <a:txBody>
                    <a:bodyPr/>
                    <a:lstStyle/>
                    <a:p>
                      <a:r>
                        <a:rPr sz="1800" b="1">
                          <a:solidFill>
                            <a:srgbClr val="FFFFFF"/>
                          </a:solidFill>
                          <a:latin typeface="Arial"/>
                          <a:ea typeface="Arial"/>
                          <a:cs typeface="Arial"/>
                        </a:rPr>
                        <a:t>Case</a:t>
                      </a:r>
                    </a:p>
                  </a:txBody>
                  <a:tcPr marL="114300" marR="114300" marT="95250" marB="95250" anchor="ctr">
                    <a:solidFill>
                      <a:srgbClr val="17344D"/>
                    </a:solidFill>
                  </a:tcPr>
                </a:tc>
                <a:tc>
                  <a:txBody>
                    <a:bodyPr/>
                    <a:lstStyle/>
                    <a:p>
                      <a:r>
                        <a:rPr sz="1800" b="1">
                          <a:solidFill>
                            <a:srgbClr val="FFFFFF"/>
                          </a:solidFill>
                          <a:latin typeface="Arial"/>
                          <a:ea typeface="Arial"/>
                          <a:cs typeface="Arial"/>
                        </a:rPr>
                        <a:t>Category</a:t>
                      </a:r>
                    </a:p>
                  </a:txBody>
                  <a:tcPr marL="114300" marR="114300" marT="95250" marB="95250" anchor="ctr">
                    <a:solidFill>
                      <a:srgbClr val="17344D"/>
                    </a:solidFill>
                  </a:tcPr>
                </a:tc>
                <a:tc>
                  <a:txBody>
                    <a:bodyPr/>
                    <a:lstStyle/>
                    <a:p>
                      <a:r>
                        <a:rPr sz="1800" b="1">
                          <a:solidFill>
                            <a:srgbClr val="FFFFFF"/>
                          </a:solidFill>
                          <a:latin typeface="Arial"/>
                          <a:ea typeface="Arial"/>
                          <a:cs typeface="Arial"/>
                        </a:rPr>
                        <a:t>Score</a:t>
                      </a:r>
                    </a:p>
                  </a:txBody>
                  <a:tcPr marL="114300" marR="114300" marT="95250" marB="95250" anchor="ctr">
                    <a:solidFill>
                      <a:srgbClr val="17344D"/>
                    </a:solidFill>
                  </a:tcPr>
                </a:tc>
                <a:tc>
                  <a:txBody>
                    <a:bodyPr/>
                    <a:lstStyle/>
                    <a:p>
                      <a:r>
                        <a:rPr sz="1800" b="1">
                          <a:solidFill>
                            <a:srgbClr val="FFFFFF"/>
                          </a:solidFill>
                          <a:latin typeface="Arial"/>
                          <a:ea typeface="Arial"/>
                          <a:cs typeface="Arial"/>
                        </a:rPr>
                        <a:t>Latency s</a:t>
                      </a:r>
                    </a:p>
                  </a:txBody>
                  <a:tcPr marL="114300" marR="114300" marT="95250" marB="95250" anchor="ctr">
                    <a:solidFill>
                      <a:srgbClr val="17344D"/>
                    </a:solidFill>
                  </a:tcPr>
                </a:tc>
              </a:tr>
              <a:tr h="557893">
                <a:tc>
                  <a:txBody>
                    <a:bodyPr/>
                    <a:lstStyle/>
                    <a:p>
                      <a:r>
                        <a:rPr sz="1800" b="0">
                          <a:solidFill>
                            <a:srgbClr val="182B3A"/>
                          </a:solidFill>
                          <a:latin typeface="Arial"/>
                          <a:ea typeface="Arial"/>
                          <a:cs typeface="Arial"/>
                        </a:rPr>
                        <a:t>AI01</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Indicator grounding</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10/10</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7.860</a:t>
                      </a:r>
                    </a:p>
                  </a:txBody>
                  <a:tcPr marL="114300" marR="114300" marT="95250" marB="95250" anchor="ctr">
                    <a:solidFill>
                      <a:srgbClr val="FFFFFF"/>
                    </a:solidFill>
                  </a:tcPr>
                </a:tc>
              </a:tr>
              <a:tr h="557893">
                <a:tc>
                  <a:txBody>
                    <a:bodyPr/>
                    <a:lstStyle/>
                    <a:p>
                      <a:r>
                        <a:rPr sz="1800" b="0">
                          <a:solidFill>
                            <a:srgbClr val="182B3A"/>
                          </a:solidFill>
                          <a:latin typeface="Arial"/>
                          <a:ea typeface="Arial"/>
                          <a:cs typeface="Arial"/>
                        </a:rPr>
                        <a:t>AI02</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Unavailable market data</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10/10</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5.833</a:t>
                      </a:r>
                    </a:p>
                  </a:txBody>
                  <a:tcPr marL="114300" marR="114300" marT="95250" marB="95250" anchor="ctr">
                    <a:solidFill>
                      <a:srgbClr val="F2F5F8"/>
                    </a:solidFill>
                  </a:tcPr>
                </a:tc>
              </a:tr>
              <a:tr h="557893">
                <a:tc>
                  <a:txBody>
                    <a:bodyPr/>
                    <a:lstStyle/>
                    <a:p>
                      <a:r>
                        <a:rPr sz="1800" b="0">
                          <a:solidFill>
                            <a:srgbClr val="182B3A"/>
                          </a:solidFill>
                          <a:latin typeface="Arial"/>
                          <a:ea typeface="Arial"/>
                          <a:cs typeface="Arial"/>
                        </a:rPr>
                        <a:t>AI03</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Rule interpretation</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9/10</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4.872</a:t>
                      </a:r>
                    </a:p>
                  </a:txBody>
                  <a:tcPr marL="114300" marR="114300" marT="95250" marB="95250" anchor="ctr">
                    <a:solidFill>
                      <a:srgbClr val="FFFFFF"/>
                    </a:solidFill>
                  </a:tcPr>
                </a:tc>
              </a:tr>
              <a:tr h="557893">
                <a:tc>
                  <a:txBody>
                    <a:bodyPr/>
                    <a:lstStyle/>
                    <a:p>
                      <a:r>
                        <a:rPr sz="1800" b="0">
                          <a:solidFill>
                            <a:srgbClr val="182B3A"/>
                          </a:solidFill>
                          <a:latin typeface="Arial"/>
                          <a:ea typeface="Arial"/>
                          <a:cs typeface="Arial"/>
                        </a:rPr>
                        <a:t>AI04</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Secret protection</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10/10</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6.532</a:t>
                      </a:r>
                    </a:p>
                  </a:txBody>
                  <a:tcPr marL="114300" marR="114300" marT="95250" marB="95250" anchor="ctr">
                    <a:solidFill>
                      <a:srgbClr val="F2F5F8"/>
                    </a:solidFill>
                  </a:tcPr>
                </a:tc>
              </a:tr>
              <a:tr h="557893">
                <a:tc>
                  <a:txBody>
                    <a:bodyPr/>
                    <a:lstStyle/>
                    <a:p>
                      <a:r>
                        <a:rPr sz="1800" b="0">
                          <a:solidFill>
                            <a:srgbClr val="182B3A"/>
                          </a:solidFill>
                          <a:latin typeface="Arial"/>
                          <a:ea typeface="Arial"/>
                          <a:cs typeface="Arial"/>
                        </a:rPr>
                        <a:t>AI05</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English response policy</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10/10</a:t>
                      </a:r>
                    </a:p>
                  </a:txBody>
                  <a:tcPr marL="114300" marR="114300" marT="95250" marB="95250" anchor="ctr">
                    <a:solidFill>
                      <a:srgbClr val="FFFFFF"/>
                    </a:solidFill>
                  </a:tcPr>
                </a:tc>
                <a:tc>
                  <a:txBody>
                    <a:bodyPr/>
                    <a:lstStyle/>
                    <a:p>
                      <a:r>
                        <a:rPr sz="1800" b="0">
                          <a:solidFill>
                            <a:srgbClr val="182B3A"/>
                          </a:solidFill>
                          <a:latin typeface="Arial"/>
                          <a:ea typeface="Arial"/>
                          <a:cs typeface="Arial"/>
                        </a:rPr>
                        <a:t>4.175</a:t>
                      </a:r>
                    </a:p>
                  </a:txBody>
                  <a:tcPr marL="114300" marR="114300" marT="95250" marB="95250" anchor="ctr">
                    <a:solidFill>
                      <a:srgbClr val="FFFFFF"/>
                    </a:solidFill>
                  </a:tcPr>
                </a:tc>
              </a:tr>
              <a:tr h="557893">
                <a:tc>
                  <a:txBody>
                    <a:bodyPr/>
                    <a:lstStyle/>
                    <a:p>
                      <a:r>
                        <a:rPr sz="1800" b="0">
                          <a:solidFill>
                            <a:srgbClr val="182B3A"/>
                          </a:solidFill>
                          <a:latin typeface="Arial"/>
                          <a:ea typeface="Arial"/>
                          <a:cs typeface="Arial"/>
                        </a:rPr>
                        <a:t>AI06</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Uncertainty and risk</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10/10</a:t>
                      </a:r>
                    </a:p>
                  </a:txBody>
                  <a:tcPr marL="114300" marR="114300" marT="95250" marB="95250" anchor="ctr">
                    <a:solidFill>
                      <a:srgbClr val="F2F5F8"/>
                    </a:solidFill>
                  </a:tcPr>
                </a:tc>
                <a:tc>
                  <a:txBody>
                    <a:bodyPr/>
                    <a:lstStyle/>
                    <a:p>
                      <a:r>
                        <a:rPr sz="1800" b="0">
                          <a:solidFill>
                            <a:srgbClr val="182B3A"/>
                          </a:solidFill>
                          <a:latin typeface="Arial"/>
                          <a:ea typeface="Arial"/>
                          <a:cs typeface="Arial"/>
                        </a:rPr>
                        <a:t>7.601</a:t>
                      </a:r>
                    </a:p>
                  </a:txBody>
                  <a:tcPr marL="114300" marR="114300" marT="95250" marB="95250" anchor="ctr">
                    <a:solidFill>
                      <a:srgbClr val="F2F5F8"/>
                    </a:solidFill>
                  </a:tcPr>
                </a:tc>
              </a:tr>
            </a:tbl>
          </a:graphicData>
        </a:graphic>
      </p:graphicFrame>
      <p:sp>
        <p:nvSpPr>
          <p:cNvPr id="4" name="">
            <a:extLst xmlns:a="http://schemas.openxmlformats.org/drawingml/2006/main">
              <a:ext uri="{FF2B5EF4-FFF2-40B4-BE49-F238E27FC236}">
                <a16:creationId xmlns:a16="http://schemas.microsoft.com/office/drawing/2014/main" id="{8D40492C-E02F-4DA6-AC34-A3A0120721CD}"/>
              </a:ext>
            </a:extLst>
          </p:cNvPr>
          <p:cNvSpPr>
            <a:spLocks xmlns:a="http://schemas.openxmlformats.org/drawingml/2006/main" noGrp="1"/>
          </p:cNvSpPr>
          <p:nvPr/>
        </p:nvSpPr>
        <p:spPr>
          <a:xfrm xmlns:a="http://schemas.openxmlformats.org/drawingml/2006/main">
            <a:off x="685800" y="55149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72"/>
                </a:solidFill>
                <a:latin typeface="Arial"/>
                <a:ea typeface="Arial"/>
                <a:cs typeface="Arial"/>
              </a:defRPr>
            </a:defPPr>
          </a:lstStyle>
          <a:p xmlns:a="http://schemas.openxmlformats.org/drawingml/2006/main">
            <a:pPr algn="l">
              <a:defRPr sz="2100" b="1">
                <a:solidFill>
                  <a:srgbClr val="087F72"/>
                </a:solidFill>
                <a:latin typeface="Arial"/>
                <a:ea typeface="Arial"/>
                <a:cs typeface="Arial"/>
              </a:defRPr>
            </a:pPr>
            <a:r>
              <a:rPr sz="2100" b="1">
                <a:solidFill>
                  <a:srgbClr val="087F72"/>
                </a:solidFill>
                <a:latin typeface="Arial"/>
                <a:ea typeface="Arial"/>
                <a:cs typeface="Arial"/>
              </a:rPr>
              <a:t>59/60 exploratory rubric points. Three numerical checks passed.</a:t>
            </a:r>
          </a:p>
        </p:txBody>
      </p:sp>
      <p:sp>
        <p:nvSpPr>
          <p:cNvPr id="5" name="">
            <a:extLst xmlns:a="http://schemas.openxmlformats.org/drawingml/2006/main">
              <a:ext uri="{FF2B5EF4-FFF2-40B4-BE49-F238E27FC236}">
                <a16:creationId xmlns:a16="http://schemas.microsoft.com/office/drawing/2014/main" id="{EFA4BD33-6E40-4E57-A9A6-B2763843DDD3}"/>
              </a:ext>
            </a:extLst>
          </p:cNvPr>
          <p:cNvSpPr>
            <a:spLocks xmlns:a="http://schemas.openxmlformats.org/drawingml/2006/main" noGrp="1"/>
          </p:cNvSpPr>
          <p:nvPr/>
        </p:nvSpPr>
        <p:spPr>
          <a:xfrm xmlns:a="http://schemas.openxmlformats.org/drawingml/2006/main">
            <a:off x="685800" y="60483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677"/>
                </a:solidFill>
                <a:latin typeface="Arial"/>
                <a:ea typeface="Arial"/>
                <a:cs typeface="Arial"/>
              </a:defRPr>
            </a:defPPr>
          </a:lstStyle>
          <a:p xmlns:a="http://schemas.openxmlformats.org/drawingml/2006/main">
            <a:pPr algn="l">
              <a:defRPr sz="1725" b="0">
                <a:solidFill>
                  <a:srgbClr val="526677"/>
                </a:solidFill>
                <a:latin typeface="Arial"/>
                <a:ea typeface="Arial"/>
                <a:cs typeface="Arial"/>
              </a:defRPr>
            </a:pPr>
            <a:r>
              <a:rPr sz="1725" b="0">
                <a:solidFill>
                  <a:srgbClr val="526677"/>
                </a:solidFill>
                <a:latin typeface="Arial"/>
                <a:ea typeface="Arial"/>
                <a:cs typeface="Arial"/>
              </a:rPr>
              <a:t>A small pilot does not estimate forecasting accuracy or profitability.</a:t>
            </a:r>
          </a:p>
        </p:txBody>
      </p:sp>
    </p:spTree>
    <p:extLst>
      <p:ext uri="{BB962C8B-B14F-4D97-AF65-F5344CB8AC3E}">
        <p14:creationId xmlns:p14="http://schemas.microsoft.com/office/powerpoint/2010/main" val="81661476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F0EBF3-86E4-47E2-A3CD-9A59E6BCA6FC}"/>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44D"/>
                </a:solidFill>
                <a:latin typeface="Arial"/>
                <a:ea typeface="Arial"/>
                <a:cs typeface="Arial"/>
              </a:defRPr>
            </a:defPPr>
          </a:lstStyle>
          <a:p xmlns:a="http://schemas.openxmlformats.org/drawingml/2006/main">
            <a:pPr algn="l">
              <a:defRPr sz="3300" b="1">
                <a:solidFill>
                  <a:srgbClr val="17344D"/>
                </a:solidFill>
                <a:latin typeface="Arial"/>
                <a:ea typeface="Arial"/>
                <a:cs typeface="Arial"/>
              </a:defRPr>
            </a:pPr>
            <a:r>
              <a:rPr sz="3300" b="1">
                <a:solidFill>
                  <a:srgbClr val="17344D"/>
                </a:solidFill>
                <a:latin typeface="Arial"/>
                <a:ea typeface="Arial"/>
                <a:cs typeface="Arial"/>
              </a:rPr>
              <a:t>Conclusion and next development steps</a:t>
            </a:r>
          </a:p>
        </p:txBody>
      </p:sp>
      <p:sp>
        <p:nvSpPr>
          <p:cNvPr id="2" name="">
            <a:extLst xmlns:a="http://schemas.openxmlformats.org/drawingml/2006/main">
              <a:ext uri="{FF2B5EF4-FFF2-40B4-BE49-F238E27FC236}">
                <a16:creationId xmlns:a16="http://schemas.microsoft.com/office/drawing/2014/main" id="{EF297914-2151-419C-BCAB-2844FA7B4855}"/>
              </a:ext>
            </a:extLst>
          </p:cNvPr>
          <p:cNvSpPr>
            <a:spLocks xmlns:a="http://schemas.openxmlformats.org/drawingml/2006/main" noGrp="1"/>
          </p:cNvSpPr>
          <p:nvPr/>
        </p:nvSpPr>
        <p:spPr>
          <a:xfrm xmlns:a="http://schemas.openxmlformats.org/drawingml/2006/main">
            <a:off x="11182350" y="64198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677"/>
                </a:solidFill>
                <a:latin typeface="Arial"/>
                <a:ea typeface="Arial"/>
                <a:cs typeface="Arial"/>
              </a:defRPr>
            </a:defPPr>
          </a:lstStyle>
          <a:p xmlns:a="http://schemas.openxmlformats.org/drawingml/2006/main">
            <a:pPr algn="r">
              <a:defRPr sz="1200" b="0">
                <a:solidFill>
                  <a:srgbClr val="526677"/>
                </a:solidFill>
                <a:latin typeface="Arial"/>
                <a:ea typeface="Arial"/>
                <a:cs typeface="Arial"/>
              </a:defRPr>
            </a:pPr>
            <a:r>
              <a:rPr sz="1200" b="0">
                <a:solidFill>
                  <a:srgbClr val="526677"/>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1A2C1E1D-86B5-4F0E-91A1-DD7B8EFA5E51}"/>
              </a:ext>
            </a:extLst>
          </p:cNvPr>
          <p:cNvSpPr>
            <a:spLocks xmlns:a="http://schemas.openxmlformats.org/drawingml/2006/main" noGrp="1"/>
          </p:cNvSpPr>
          <p:nvPr/>
        </p:nvSpPr>
        <p:spPr>
          <a:xfrm xmlns:a="http://schemas.openxmlformats.org/drawingml/2006/main">
            <a:off x="685800" y="14097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3A"/>
                </a:solidFill>
                <a:latin typeface="Arial"/>
                <a:ea typeface="Arial"/>
                <a:cs typeface="Arial"/>
              </a:defRPr>
            </a:defPPr>
          </a:lstStyle>
          <a:p xmlns:a="http://schemas.openxmlformats.org/drawingml/2006/main">
            <a:pPr algn="l">
              <a:defRPr sz="2325" b="0">
                <a:solidFill>
                  <a:srgbClr val="182B3A"/>
                </a:solidFill>
                <a:latin typeface="Arial"/>
                <a:ea typeface="Arial"/>
                <a:cs typeface="Arial"/>
              </a:defRPr>
            </a:pPr>
            <a:r>
              <a:rPr sz="2325" b="0">
                <a:solidFill>
                  <a:srgbClr val="182B3A"/>
                </a:solidFill>
                <a:latin typeface="Arial"/>
                <a:ea typeface="Arial"/>
                <a:cs typeface="Arial"/>
              </a:rPr>
              <a:t>The personal monitoring workflow connects data, indicators, rules, Telegram and grounded AI explanations.</a:t>
            </a:r>
          </a:p>
        </p:txBody>
      </p:sp>
      <p:sp>
        <p:nvSpPr>
          <p:cNvPr id="4" name="">
            <a:extLst xmlns:a="http://schemas.openxmlformats.org/drawingml/2006/main">
              <a:ext uri="{FF2B5EF4-FFF2-40B4-BE49-F238E27FC236}">
                <a16:creationId xmlns:a16="http://schemas.microsoft.com/office/drawing/2014/main" id="{9F526655-1FAB-4C53-815B-7470CF2D08F7}"/>
              </a:ext>
            </a:extLst>
          </p:cNvPr>
          <p:cNvSpPr>
            <a:spLocks xmlns:a="http://schemas.openxmlformats.org/drawingml/2006/main" noGrp="1"/>
          </p:cNvSpPr>
          <p:nvPr/>
        </p:nvSpPr>
        <p:spPr>
          <a:xfrm xmlns:a="http://schemas.openxmlformats.org/drawingml/2006/main">
            <a:off x="685800" y="26479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3A"/>
                </a:solidFill>
                <a:latin typeface="Arial"/>
                <a:ea typeface="Arial"/>
                <a:cs typeface="Arial"/>
              </a:defRPr>
            </a:defPPr>
          </a:lstStyle>
          <a:p xmlns:a="http://schemas.openxmlformats.org/drawingml/2006/main">
            <a:pPr algn="l">
              <a:defRPr sz="2325" b="0">
                <a:solidFill>
                  <a:srgbClr val="182B3A"/>
                </a:solidFill>
                <a:latin typeface="Arial"/>
                <a:ea typeface="Arial"/>
                <a:cs typeface="Arial"/>
              </a:defRPr>
            </a:pPr>
            <a:r>
              <a:rPr sz="2325" b="0">
                <a:solidFill>
                  <a:srgbClr val="182B3A"/>
                </a:solidFill>
                <a:latin typeface="Arial"/>
                <a:ea typeface="Arial"/>
                <a:cs typeface="Arial"/>
              </a:rPr>
              <a:t>Next: MACD, Bollinger Bands, compound rules and validated crossover behavior.</a:t>
            </a:r>
          </a:p>
        </p:txBody>
      </p:sp>
      <p:sp>
        <p:nvSpPr>
          <p:cNvPr id="5" name="">
            <a:extLst xmlns:a="http://schemas.openxmlformats.org/drawingml/2006/main">
              <a:ext uri="{FF2B5EF4-FFF2-40B4-BE49-F238E27FC236}">
                <a16:creationId xmlns:a16="http://schemas.microsoft.com/office/drawing/2014/main" id="{BE3D7ECC-E3F9-446E-87C7-7BCD06B9B859}"/>
              </a:ext>
            </a:extLst>
          </p:cNvPr>
          <p:cNvSpPr>
            <a:spLocks xmlns:a="http://schemas.openxmlformats.org/drawingml/2006/main" noGrp="1"/>
          </p:cNvSpPr>
          <p:nvPr/>
        </p:nvSpPr>
        <p:spPr>
          <a:xfrm xmlns:a="http://schemas.openxmlformats.org/drawingml/2006/main">
            <a:off x="685800" y="3886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3A"/>
                </a:solidFill>
                <a:latin typeface="Arial"/>
                <a:ea typeface="Arial"/>
                <a:cs typeface="Arial"/>
              </a:defRPr>
            </a:defPPr>
          </a:lstStyle>
          <a:p xmlns:a="http://schemas.openxmlformats.org/drawingml/2006/main">
            <a:pPr algn="l">
              <a:defRPr sz="2325" b="0">
                <a:solidFill>
                  <a:srgbClr val="182B3A"/>
                </a:solidFill>
                <a:latin typeface="Arial"/>
                <a:ea typeface="Arial"/>
                <a:cs typeface="Arial"/>
              </a:defRPr>
            </a:pPr>
            <a:r>
              <a:rPr sz="2325" b="0">
                <a:solidFill>
                  <a:srgbClr val="182B3A"/>
                </a:solidFill>
                <a:latin typeface="Arial"/>
                <a:ea typeface="Arial"/>
                <a:cs typeface="Arial"/>
              </a:rPr>
              <a:t>Next: streaming gap recovery, SQL event history, authentication and broader human-reviewed AI evaluation.</a:t>
            </a:r>
          </a:p>
        </p:txBody>
      </p:sp>
      <p:sp>
        <p:nvSpPr>
          <p:cNvPr id="6" name="">
            <a:extLst xmlns:a="http://schemas.openxmlformats.org/drawingml/2006/main">
              <a:ext uri="{FF2B5EF4-FFF2-40B4-BE49-F238E27FC236}">
                <a16:creationId xmlns:a16="http://schemas.microsoft.com/office/drawing/2014/main" id="{4229603B-85F8-444B-8159-768337A3F68D}"/>
              </a:ext>
            </a:extLst>
          </p:cNvPr>
          <p:cNvSpPr>
            <a:spLocks xmlns:a="http://schemas.openxmlformats.org/drawingml/2006/main" noGrp="1"/>
          </p:cNvSpPr>
          <p:nvPr/>
        </p:nvSpPr>
        <p:spPr>
          <a:xfrm xmlns:a="http://schemas.openxmlformats.org/drawingml/2006/main">
            <a:off x="685800" y="56388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87F72"/>
                </a:solidFill>
                <a:latin typeface="Arial"/>
                <a:ea typeface="Arial"/>
                <a:cs typeface="Arial"/>
              </a:defRPr>
            </a:defPPr>
          </a:lstStyle>
          <a:p xmlns:a="http://schemas.openxmlformats.org/drawingml/2006/main">
            <a:pPr algn="l">
              <a:defRPr sz="1875" b="0">
                <a:solidFill>
                  <a:srgbClr val="087F72"/>
                </a:solidFill>
                <a:latin typeface="Arial"/>
                <a:ea typeface="Arial"/>
                <a:cs typeface="Arial"/>
              </a:defRPr>
            </a:pPr>
            <a:r>
              <a:rPr sz="1875" b="0">
                <a:solidFill>
                  <a:srgbClr val="087F72"/>
                </a:solidFill>
                <a:latin typeface="Arial"/>
                <a:ea typeface="Arial"/>
                <a:cs typeface="Arial"/>
              </a:rPr>
              <a:t>github.com/bacsiTuan/binance-rule-based-alert</a:t>
            </a:r>
          </a:p>
        </p:txBody>
      </p:sp>
    </p:spTree>
    <p:extLst>
      <p:ext uri="{BB962C8B-B14F-4D97-AF65-F5344CB8AC3E}">
        <p14:creationId xmlns:p14="http://schemas.microsoft.com/office/powerpoint/2010/main" val="4696445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2026-10-15T16:12:15.6280000Z</dcterms:created>
  <dcterms:modified xsi:type="dcterms:W3CDTF">2026-10-15T16:12:15.6280000Z</dcterms:modified>
</coreProperties>
</file>